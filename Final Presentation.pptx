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89" r:id="rId2"/>
    <p:sldId id="290" r:id="rId3"/>
    <p:sldId id="291" r:id="rId4"/>
    <p:sldId id="292" r:id="rId5"/>
    <p:sldId id="293" r:id="rId6"/>
    <p:sldId id="294" r:id="rId7"/>
    <p:sldId id="295" r:id="rId8"/>
    <p:sldId id="261" r:id="rId9"/>
    <p:sldId id="257" r:id="rId10"/>
    <p:sldId id="258" r:id="rId11"/>
    <p:sldId id="259" r:id="rId12"/>
    <p:sldId id="260"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850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2 is the movement rate module. One number per elephant per day - total distance walked. Each elephant is its own yardstick: the alert line is that elephant's 1st percentile of daily distance. Days with fewer than 20 hourly fixes are excluded, so a quiet collar never looks like a quiet elephant.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Gothami: 208 qualifying days, alert threshold 1.29 km, median 5.03 km/day. Three flagged days, 21-25 October 2024, distances 0.77, 1.29 and 1.01 km on 22, 20 and 24 fixes. Normal movement resumed straight after. Caveat to state up front: this threshold is computed in-sample over her whole record, so it is retrospective rather than the prospective baseline Wall et al. use.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B1C"/>
        </a:solidFill>
        <a:effectLst/>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2C5F2D">
              <a:alpha val="65000"/>
            </a:srgbClr>
          </a:solidFill>
          <a:ln/>
        </p:spPr>
      </p:sp>
      <p:sp>
        <p:nvSpPr>
          <p:cNvPr id="3" name="Shape 1"/>
          <p:cNvSpPr/>
          <p:nvPr/>
        </p:nvSpPr>
        <p:spPr>
          <a:xfrm>
            <a:off x="10241280" y="4023360"/>
            <a:ext cx="3108960" cy="3108960"/>
          </a:xfrm>
          <a:prstGeom prst="ellipse">
            <a:avLst/>
          </a:prstGeom>
          <a:solidFill>
            <a:srgbClr val="97BC62">
              <a:alpha val="30000"/>
            </a:srgbClr>
          </a:solidFill>
          <a:ln/>
        </p:spPr>
      </p:sp>
      <p:sp>
        <p:nvSpPr>
          <p:cNvPr id="4" name="Text 2"/>
          <p:cNvSpPr/>
          <p:nvPr/>
        </p:nvSpPr>
        <p:spPr>
          <a:xfrm>
            <a:off x="822960" y="1117023"/>
            <a:ext cx="8046720" cy="153473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Elephant Movement in Kaudulla</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77240" y="3330286"/>
            <a:ext cx="8046720" cy="49252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97BC62"/>
                </a:solidFill>
                <a:effectLst/>
                <a:uLnTx/>
                <a:uFillTx/>
                <a:latin typeface="Cambria" pitchFamily="34" charset="0"/>
                <a:ea typeface="Cambria" pitchFamily="34" charset="-122"/>
                <a:cs typeface="Cambria" pitchFamily="34" charset="-120"/>
              </a:rPr>
              <a:t>What the Data Tells Us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26819" y="5029200"/>
            <a:ext cx="8046720" cy="1369522"/>
          </a:xfrm>
          <a:prstGeom prst="rect">
            <a:avLst/>
          </a:prstGeom>
          <a:noFill/>
          <a:ln/>
        </p:spPr>
        <p:txBody>
          <a:bodyPr wrap="square" lIns="0" tIns="0" rIns="0" bIns="0" rtlCol="0" anchor="ct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5F5F5"/>
                </a:solidFill>
                <a:effectLst/>
                <a:uLnTx/>
                <a:uFillTx/>
                <a:latin typeface="Calibri" pitchFamily="34" charset="0"/>
                <a:ea typeface="Calibri" pitchFamily="34" charset="-122"/>
                <a:cs typeface="Calibri" pitchFamily="34" charset="-120"/>
              </a:rPr>
              <a:t>Statistical Consulting Service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5F5F5"/>
                </a:solidFill>
                <a:effectLst/>
                <a:uLnTx/>
                <a:uFillTx/>
                <a:latin typeface="Calibri" pitchFamily="34" charset="0"/>
                <a:ea typeface="Calibri" pitchFamily="34" charset="-122"/>
                <a:cs typeface="Calibri" pitchFamily="34" charset="-120"/>
              </a:rPr>
              <a:t>Department of Statistics, Faculty of Applied Sciences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5F5F5"/>
                </a:solidFill>
                <a:effectLst/>
                <a:uLnTx/>
                <a:uFillTx/>
                <a:latin typeface="Calibri" pitchFamily="34" charset="0"/>
                <a:ea typeface="Calibri" pitchFamily="34" charset="-122"/>
                <a:cs typeface="Calibri" pitchFamily="34" charset="-120"/>
              </a:rPr>
              <a:t>University of Sri Jayewardenepura, Nugegoda, Sri Lanka</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22960" y="502920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What This Project Is</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1234440"/>
            <a:ext cx="5486400" cy="1463040"/>
          </a:xfrm>
          <a:prstGeom prst="rect">
            <a:avLst/>
          </a:prstGeom>
          <a:noFill/>
          <a:ln/>
        </p:spPr>
        <p:txBody>
          <a:bodyPr wrap="square" lIns="0" tIns="0" rIns="0" bIns="0" rtlCol="0" anchor="ctr"/>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The Department already collars and tracks elephants in Kaudulla. This project turns that existing GPS data into patterns the raw records do not show.</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91440" y="2697480"/>
            <a:ext cx="5486400" cy="1371600"/>
          </a:xfrm>
          <a:prstGeom prst="roundRect">
            <a:avLst>
              <a:gd name="adj" fmla="val 5333"/>
            </a:avLst>
          </a:prstGeom>
          <a:solidFill>
            <a:srgbClr val="F5F5F5"/>
          </a:solidFill>
          <a:ln/>
        </p:spPr>
      </p:sp>
      <p:sp>
        <p:nvSpPr>
          <p:cNvPr id="5" name="Text 3"/>
          <p:cNvSpPr/>
          <p:nvPr/>
        </p:nvSpPr>
        <p:spPr>
          <a:xfrm>
            <a:off x="868680" y="3154680"/>
            <a:ext cx="4937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C5F2D"/>
                </a:solidFill>
                <a:effectLst/>
                <a:uLnTx/>
                <a:uFillTx/>
                <a:latin typeface="Cambria" pitchFamily="34" charset="0"/>
                <a:ea typeface="Cambria" pitchFamily="34" charset="-122"/>
                <a:cs typeface="Cambria" pitchFamily="34" charset="-120"/>
              </a:rPr>
              <a:t>What we did with the data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68680" y="3584448"/>
            <a:ext cx="4937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583680" y="1371600"/>
            <a:ext cx="640080" cy="640080"/>
          </a:xfrm>
          <a:prstGeom prst="ellipse">
            <a:avLst/>
          </a:prstGeom>
          <a:solidFill>
            <a:srgbClr val="2C5F2D"/>
          </a:solidFill>
          <a:ln/>
        </p:spPr>
      </p:sp>
      <p:sp>
        <p:nvSpPr>
          <p:cNvPr id="8" name="Text 6"/>
          <p:cNvSpPr/>
          <p:nvPr/>
        </p:nvSpPr>
        <p:spPr>
          <a:xfrm>
            <a:off x="6583680" y="137160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452360" y="1426464"/>
            <a:ext cx="4206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Monitoring missing 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583680" y="2514600"/>
            <a:ext cx="640080" cy="640080"/>
          </a:xfrm>
          <a:prstGeom prst="ellipse">
            <a:avLst/>
          </a:prstGeom>
          <a:solidFill>
            <a:srgbClr val="2C5F2D"/>
          </a:solidFill>
          <a:ln/>
        </p:spPr>
      </p:sp>
      <p:sp>
        <p:nvSpPr>
          <p:cNvPr id="11" name="Text 9"/>
          <p:cNvSpPr/>
          <p:nvPr/>
        </p:nvSpPr>
        <p:spPr>
          <a:xfrm>
            <a:off x="6583680" y="251460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452360" y="2569464"/>
            <a:ext cx="4206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Analysis of elephants' movements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583680" y="3657600"/>
            <a:ext cx="640080" cy="640080"/>
          </a:xfrm>
          <a:prstGeom prst="ellipse">
            <a:avLst/>
          </a:prstGeom>
          <a:solidFill>
            <a:srgbClr val="2C5F2D"/>
          </a:solidFill>
          <a:ln/>
        </p:spPr>
      </p:sp>
      <p:sp>
        <p:nvSpPr>
          <p:cNvPr id="14" name="Text 12"/>
          <p:cNvSpPr/>
          <p:nvPr/>
        </p:nvSpPr>
        <p:spPr>
          <a:xfrm>
            <a:off x="6583680" y="365760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452360" y="3712464"/>
            <a:ext cx="4206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Climate and vegetation data analysis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583680" y="4800600"/>
            <a:ext cx="640080" cy="640080"/>
          </a:xfrm>
          <a:prstGeom prst="ellipse">
            <a:avLst/>
          </a:prstGeom>
          <a:solidFill>
            <a:srgbClr val="2C5F2D"/>
          </a:solidFill>
          <a:ln/>
        </p:spPr>
      </p:sp>
      <p:sp>
        <p:nvSpPr>
          <p:cNvPr id="17" name="Text 15"/>
          <p:cNvSpPr/>
          <p:nvPr/>
        </p:nvSpPr>
        <p:spPr>
          <a:xfrm>
            <a:off x="6583680" y="4800600"/>
            <a:ext cx="64008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452360" y="4855464"/>
            <a:ext cx="4206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Checking elephant movement anomalies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2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The Data We Worked With</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nvGraphicFramePr>
        <p:xfrm>
          <a:off x="548640" y="1463040"/>
          <a:ext cx="11260627" cy="2947900"/>
        </p:xfrm>
        <a:graphic>
          <a:graphicData uri="http://schemas.openxmlformats.org/drawingml/2006/table">
            <a:tbl>
              <a:tblPr/>
              <a:tblGrid>
                <a:gridCol w="558378">
                  <a:extLst>
                    <a:ext uri="{9D8B030D-6E8A-4147-A177-3AD203B41FA5}">
                      <a16:colId xmlns:a16="http://schemas.microsoft.com/office/drawing/2014/main" val="20000"/>
                    </a:ext>
                  </a:extLst>
                </a:gridCol>
                <a:gridCol w="3350269">
                  <a:extLst>
                    <a:ext uri="{9D8B030D-6E8A-4147-A177-3AD203B41FA5}">
                      <a16:colId xmlns:a16="http://schemas.microsoft.com/office/drawing/2014/main" val="20001"/>
                    </a:ext>
                  </a:extLst>
                </a:gridCol>
                <a:gridCol w="1861261">
                  <a:extLst>
                    <a:ext uri="{9D8B030D-6E8A-4147-A177-3AD203B41FA5}">
                      <a16:colId xmlns:a16="http://schemas.microsoft.com/office/drawing/2014/main" val="20002"/>
                    </a:ext>
                  </a:extLst>
                </a:gridCol>
                <a:gridCol w="2698828">
                  <a:extLst>
                    <a:ext uri="{9D8B030D-6E8A-4147-A177-3AD203B41FA5}">
                      <a16:colId xmlns:a16="http://schemas.microsoft.com/office/drawing/2014/main" val="20003"/>
                    </a:ext>
                  </a:extLst>
                </a:gridCol>
                <a:gridCol w="2791891">
                  <a:extLst>
                    <a:ext uri="{9D8B030D-6E8A-4147-A177-3AD203B41FA5}">
                      <a16:colId xmlns:a16="http://schemas.microsoft.com/office/drawing/2014/main" val="20004"/>
                    </a:ext>
                  </a:extLst>
                </a:gridCol>
              </a:tblGrid>
              <a:tr h="736975">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Time resolution</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Period</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736975">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Elephant GPS tracking</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Hourly</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Jul 2024 – Jun 2026</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16,747 records, 15 elephants</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6975">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Climate</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Monthly</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2017 – 2025</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9 variables × 9 years</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6975">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NDVI vegetation classification</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Annually</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2018 – 2026</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400" dirty="0">
                          <a:solidFill>
                            <a:srgbClr val="23301F"/>
                          </a:solidFill>
                          <a:latin typeface="Calibri" pitchFamily="34" charset="0"/>
                          <a:ea typeface="Calibri" pitchFamily="34" charset="-122"/>
                          <a:cs typeface="Calibri" pitchFamily="34" charset="-120"/>
                        </a:rPr>
                        <a:t>5 density classes</a:t>
                      </a:r>
                      <a:endParaRPr lang="en-US" sz="1400" dirty="0">
                        <a:latin typeface="Calibri" charset="0"/>
                        <a:ea typeface="Calibri" charset="0"/>
                        <a:cs typeface="Calibri" charset="0"/>
                      </a:endParaRPr>
                    </a:p>
                  </a:txBody>
                  <a:tcPr marL="101600" marR="101600" marT="101600" marB="1016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 name="Text 1"/>
          <p:cNvSpPr/>
          <p:nvPr/>
        </p:nvSpPr>
        <p:spPr>
          <a:xfrm>
            <a:off x="548640" y="4114800"/>
            <a:ext cx="11064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3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Variables Used from Each Dataset</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280160"/>
            <a:ext cx="3502152" cy="4663440"/>
          </a:xfrm>
          <a:prstGeom prst="roundRect">
            <a:avLst>
              <a:gd name="adj" fmla="val 1567"/>
            </a:avLst>
          </a:prstGeom>
          <a:solidFill>
            <a:srgbClr val="F5F5F5"/>
          </a:solidFill>
          <a:ln/>
        </p:spPr>
      </p:sp>
      <p:sp>
        <p:nvSpPr>
          <p:cNvPr id="4" name="Shape 2"/>
          <p:cNvSpPr/>
          <p:nvPr/>
        </p:nvSpPr>
        <p:spPr>
          <a:xfrm>
            <a:off x="804672" y="1536192"/>
            <a:ext cx="502920" cy="502920"/>
          </a:xfrm>
          <a:prstGeom prst="ellipse">
            <a:avLst/>
          </a:prstGeom>
          <a:solidFill>
            <a:srgbClr val="2C5F2D"/>
          </a:solidFill>
          <a:ln/>
        </p:spPr>
      </p:sp>
      <p:sp>
        <p:nvSpPr>
          <p:cNvPr id="5" name="Text 3"/>
          <p:cNvSpPr/>
          <p:nvPr/>
        </p:nvSpPr>
        <p:spPr>
          <a:xfrm>
            <a:off x="804672" y="1536192"/>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1</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444752" y="1517904"/>
            <a:ext cx="24688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GPS Tracking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444752" y="1828800"/>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Hourly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2286000"/>
            <a:ext cx="2971800" cy="347472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collar_id — collar number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name — elephant name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sex — male / female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date — date of fix</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time — time of fix</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lat — latitude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lon — longitude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233672" y="1280160"/>
            <a:ext cx="3502152" cy="4663440"/>
          </a:xfrm>
          <a:prstGeom prst="roundRect">
            <a:avLst>
              <a:gd name="adj" fmla="val 1567"/>
            </a:avLst>
          </a:prstGeom>
          <a:solidFill>
            <a:srgbClr val="F5F5F5"/>
          </a:solidFill>
          <a:ln/>
        </p:spPr>
      </p:sp>
      <p:sp>
        <p:nvSpPr>
          <p:cNvPr id="10" name="Shape 8"/>
          <p:cNvSpPr/>
          <p:nvPr/>
        </p:nvSpPr>
        <p:spPr>
          <a:xfrm>
            <a:off x="4489704" y="1536192"/>
            <a:ext cx="502920" cy="502920"/>
          </a:xfrm>
          <a:prstGeom prst="ellipse">
            <a:avLst/>
          </a:prstGeom>
          <a:solidFill>
            <a:srgbClr val="2C5F2D"/>
          </a:solidFill>
          <a:ln/>
        </p:spPr>
      </p:sp>
      <p:sp>
        <p:nvSpPr>
          <p:cNvPr id="11" name="Text 9"/>
          <p:cNvSpPr/>
          <p:nvPr/>
        </p:nvSpPr>
        <p:spPr>
          <a:xfrm>
            <a:off x="4489704" y="1536192"/>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2</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129784" y="1517904"/>
            <a:ext cx="24688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Climate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129784" y="1828800"/>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Monthly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4507992" y="2286000"/>
            <a:ext cx="2971800" cy="347472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PRECTOTCORR — precipitation, corrected (mm)</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T2M — temperature at 2 metres (°C)</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918704" y="1280160"/>
            <a:ext cx="3502152" cy="4663440"/>
          </a:xfrm>
          <a:prstGeom prst="roundRect">
            <a:avLst>
              <a:gd name="adj" fmla="val 1567"/>
            </a:avLst>
          </a:prstGeom>
          <a:solidFill>
            <a:srgbClr val="F5F5F5"/>
          </a:solidFill>
          <a:ln/>
        </p:spPr>
      </p:sp>
      <p:sp>
        <p:nvSpPr>
          <p:cNvPr id="16" name="Shape 14"/>
          <p:cNvSpPr/>
          <p:nvPr/>
        </p:nvSpPr>
        <p:spPr>
          <a:xfrm>
            <a:off x="8174736" y="1536192"/>
            <a:ext cx="502920" cy="502920"/>
          </a:xfrm>
          <a:prstGeom prst="ellipse">
            <a:avLst/>
          </a:prstGeom>
          <a:solidFill>
            <a:srgbClr val="2C5F2D"/>
          </a:solidFill>
          <a:ln/>
        </p:spPr>
      </p:sp>
      <p:sp>
        <p:nvSpPr>
          <p:cNvPr id="17" name="Text 15"/>
          <p:cNvSpPr/>
          <p:nvPr/>
        </p:nvSpPr>
        <p:spPr>
          <a:xfrm>
            <a:off x="8174736" y="1536192"/>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814816" y="1517904"/>
            <a:ext cx="24688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NDVI Vegetation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814816" y="1828800"/>
            <a:ext cx="24688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Annually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193024" y="2286000"/>
            <a:ext cx="2971800" cy="347472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 cover by density class: </a:t>
            </a:r>
          </a:p>
          <a:p>
            <a:pPr marL="0" marR="0" lvl="0" indent="0" algn="l" defTabSz="914400" rtl="0" eaLnBrk="1" fontAlgn="auto" latinLnBrk="0" hangingPunct="1">
              <a:lnSpc>
                <a:spcPct val="100000"/>
              </a:lnSpc>
              <a:spcBef>
                <a:spcPts val="0"/>
              </a:spcBef>
              <a:spcAft>
                <a:spcPts val="800"/>
              </a:spcAft>
              <a:buClrTx/>
              <a:buSzPct val="100000"/>
              <a:buFontTx/>
              <a:buNone/>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non-vegetation, shrubs &amp; degraded grasslands, sparse or stressed vegetation, moderate canopy coverage, high density forest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 cover by plant health: </a:t>
            </a:r>
          </a:p>
          <a:p>
            <a:pPr marL="0" marR="0" lvl="0" indent="0" algn="l" defTabSz="914400" rtl="0" eaLnBrk="1" fontAlgn="auto" latinLnBrk="0" hangingPunct="1">
              <a:lnSpc>
                <a:spcPct val="100000"/>
              </a:lnSpc>
              <a:spcBef>
                <a:spcPts val="0"/>
              </a:spcBef>
              <a:spcAft>
                <a:spcPts val="800"/>
              </a:spcAft>
              <a:buClrTx/>
              <a:buSzPct val="100000"/>
              <a:buFontTx/>
              <a:buNone/>
              <a:tabLst/>
              <a:defRPr/>
            </a:pPr>
            <a:r>
              <a:rPr kumimoji="0" lang="en-US" sz="12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very healthy, moderately healthy, unhealthy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4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Dataset 1: GPS Tracking Data</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325880"/>
            <a:ext cx="4114800" cy="1051560"/>
          </a:xfrm>
          <a:prstGeom prst="roundRect">
            <a:avLst>
              <a:gd name="adj" fmla="val 5217"/>
            </a:avLst>
          </a:prstGeom>
          <a:solidFill>
            <a:srgbClr val="F5F5F5"/>
          </a:solidFill>
          <a:ln/>
        </p:spPr>
      </p:sp>
      <p:sp>
        <p:nvSpPr>
          <p:cNvPr id="4" name="Text 2"/>
          <p:cNvSpPr/>
          <p:nvPr/>
        </p:nvSpPr>
        <p:spPr>
          <a:xfrm>
            <a:off x="822960" y="1435608"/>
            <a:ext cx="1828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2C5F2D"/>
                </a:solidFill>
                <a:effectLst/>
                <a:uLnTx/>
                <a:uFillTx/>
                <a:latin typeface="Cambria" pitchFamily="34" charset="0"/>
                <a:ea typeface="Cambria" pitchFamily="34" charset="-122"/>
                <a:cs typeface="Cambria" pitchFamily="34" charset="-120"/>
              </a:rPr>
              <a:t>15</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22960" y="2002536"/>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elephants collared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548640" y="2560320"/>
            <a:ext cx="4114800" cy="1051560"/>
          </a:xfrm>
          <a:prstGeom prst="roundRect">
            <a:avLst>
              <a:gd name="adj" fmla="val 5217"/>
            </a:avLst>
          </a:prstGeom>
          <a:solidFill>
            <a:srgbClr val="F5F5F5"/>
          </a:solidFill>
          <a:ln/>
        </p:spPr>
      </p:sp>
      <p:sp>
        <p:nvSpPr>
          <p:cNvPr id="7" name="Text 5"/>
          <p:cNvSpPr/>
          <p:nvPr/>
        </p:nvSpPr>
        <p:spPr>
          <a:xfrm>
            <a:off x="822960" y="2670048"/>
            <a:ext cx="1828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2C5F2D"/>
                </a:solidFill>
                <a:effectLst/>
                <a:uLnTx/>
                <a:uFillTx/>
                <a:latin typeface="Cambria" pitchFamily="34" charset="0"/>
                <a:ea typeface="Cambria" pitchFamily="34" charset="-122"/>
                <a:cs typeface="Cambria" pitchFamily="34" charset="-120"/>
              </a:rPr>
              <a:t>16,747</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3236976"/>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raw GPS records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48640" y="3794760"/>
            <a:ext cx="4114800" cy="1051560"/>
          </a:xfrm>
          <a:prstGeom prst="roundRect">
            <a:avLst>
              <a:gd name="adj" fmla="val 5217"/>
            </a:avLst>
          </a:prstGeom>
          <a:solidFill>
            <a:srgbClr val="F5F5F5"/>
          </a:solidFill>
          <a:ln/>
        </p:spPr>
      </p:sp>
      <p:sp>
        <p:nvSpPr>
          <p:cNvPr id="10" name="Text 8"/>
          <p:cNvSpPr/>
          <p:nvPr/>
        </p:nvSpPr>
        <p:spPr>
          <a:xfrm>
            <a:off x="822960" y="3904488"/>
            <a:ext cx="1828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2C5F2D"/>
                </a:solidFill>
                <a:effectLst/>
                <a:uLnTx/>
                <a:uFillTx/>
                <a:latin typeface="Cambria" pitchFamily="34" charset="0"/>
                <a:ea typeface="Cambria" pitchFamily="34" charset="-122"/>
                <a:cs typeface="Cambria" pitchFamily="34" charset="-120"/>
              </a:rPr>
              <a:t>14</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22960" y="4471416"/>
            <a:ext cx="3566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elephants used for analysis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0" y="1325880"/>
            <a:ext cx="6583680" cy="1691640"/>
          </a:xfrm>
          <a:prstGeom prst="roundRect">
            <a:avLst>
              <a:gd name="adj" fmla="val 3243"/>
            </a:avLst>
          </a:prstGeom>
          <a:solidFill>
            <a:srgbClr val="F3E9E2"/>
          </a:solidFill>
          <a:ln/>
        </p:spPr>
      </p:sp>
      <p:sp>
        <p:nvSpPr>
          <p:cNvPr id="13" name="Text 11"/>
          <p:cNvSpPr/>
          <p:nvPr/>
        </p:nvSpPr>
        <p:spPr>
          <a:xfrm>
            <a:off x="5303520" y="1481328"/>
            <a:ext cx="60350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8A3B2A"/>
                </a:solidFill>
                <a:effectLst/>
                <a:uLnTx/>
                <a:uFillTx/>
                <a:latin typeface="Cambria" pitchFamily="34" charset="0"/>
                <a:ea typeface="Cambria" pitchFamily="34" charset="-122"/>
                <a:cs typeface="Cambria" pitchFamily="34" charset="-120"/>
              </a:rPr>
              <a:t>1 elephant removed — Vidusha (collar 6184)</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303520" y="1874520"/>
            <a:ext cx="6035040" cy="1005840"/>
          </a:xfrm>
          <a:prstGeom prst="rect">
            <a:avLst/>
          </a:prstGeom>
          <a:noFill/>
          <a:ln/>
        </p:spPr>
        <p:txBody>
          <a:bodyPr wrap="square" lIns="0" tIns="0" rIns="0" bIns="0"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Only one GPS record in the entire file, and that single position (10.91°N, 81.70°E) falls outside Sri Lanka. Movement cannot be measured from a single invalid point.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029200" y="3246120"/>
            <a:ext cx="65836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The 14 elephants analysed</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0" y="3657600"/>
            <a:ext cx="2084832" cy="384048"/>
          </a:xfrm>
          <a:prstGeom prst="roundRect">
            <a:avLst>
              <a:gd name="adj" fmla="val 11905"/>
            </a:avLst>
          </a:prstGeom>
          <a:solidFill>
            <a:srgbClr val="97BC62">
              <a:alpha val="45000"/>
            </a:srgbClr>
          </a:solidFill>
          <a:ln/>
        </p:spPr>
      </p:sp>
      <p:sp>
        <p:nvSpPr>
          <p:cNvPr id="17" name="Text 15"/>
          <p:cNvSpPr/>
          <p:nvPr/>
        </p:nvSpPr>
        <p:spPr>
          <a:xfrm>
            <a:off x="5029200" y="3657600"/>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Gothami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269480" y="3657600"/>
            <a:ext cx="2084832" cy="384048"/>
          </a:xfrm>
          <a:prstGeom prst="roundRect">
            <a:avLst>
              <a:gd name="adj" fmla="val 11905"/>
            </a:avLst>
          </a:prstGeom>
          <a:solidFill>
            <a:srgbClr val="97BC62">
              <a:alpha val="45000"/>
            </a:srgbClr>
          </a:solidFill>
          <a:ln/>
        </p:spPr>
      </p:sp>
      <p:sp>
        <p:nvSpPr>
          <p:cNvPr id="19" name="Text 17"/>
          <p:cNvSpPr/>
          <p:nvPr/>
        </p:nvSpPr>
        <p:spPr>
          <a:xfrm>
            <a:off x="7269480" y="3657600"/>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Dewmi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9509760" y="3657600"/>
            <a:ext cx="2084832" cy="384048"/>
          </a:xfrm>
          <a:prstGeom prst="roundRect">
            <a:avLst>
              <a:gd name="adj" fmla="val 11905"/>
            </a:avLst>
          </a:prstGeom>
          <a:solidFill>
            <a:srgbClr val="97BC62">
              <a:alpha val="45000"/>
            </a:srgbClr>
          </a:solidFill>
          <a:ln/>
        </p:spPr>
      </p:sp>
      <p:sp>
        <p:nvSpPr>
          <p:cNvPr id="21" name="Text 19"/>
          <p:cNvSpPr/>
          <p:nvPr/>
        </p:nvSpPr>
        <p:spPr>
          <a:xfrm>
            <a:off x="9509760" y="3657600"/>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Kasun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0" y="4133088"/>
            <a:ext cx="2084832" cy="384048"/>
          </a:xfrm>
          <a:prstGeom prst="roundRect">
            <a:avLst>
              <a:gd name="adj" fmla="val 11905"/>
            </a:avLst>
          </a:prstGeom>
          <a:solidFill>
            <a:srgbClr val="97BC62">
              <a:alpha val="45000"/>
            </a:srgbClr>
          </a:solidFill>
          <a:ln/>
        </p:spPr>
      </p:sp>
      <p:sp>
        <p:nvSpPr>
          <p:cNvPr id="23" name="Text 21"/>
          <p:cNvSpPr/>
          <p:nvPr/>
        </p:nvSpPr>
        <p:spPr>
          <a:xfrm>
            <a:off x="5029200" y="4133088"/>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Recollared female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269480" y="4133088"/>
            <a:ext cx="2084832" cy="384048"/>
          </a:xfrm>
          <a:prstGeom prst="roundRect">
            <a:avLst>
              <a:gd name="adj" fmla="val 11905"/>
            </a:avLst>
          </a:prstGeom>
          <a:solidFill>
            <a:srgbClr val="97BC62">
              <a:alpha val="45000"/>
            </a:srgbClr>
          </a:solidFill>
          <a:ln/>
        </p:spPr>
      </p:sp>
      <p:sp>
        <p:nvSpPr>
          <p:cNvPr id="25" name="Text 23"/>
          <p:cNvSpPr/>
          <p:nvPr/>
        </p:nvSpPr>
        <p:spPr>
          <a:xfrm>
            <a:off x="7269480" y="4133088"/>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Dona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9509760" y="4133088"/>
            <a:ext cx="2084832" cy="384048"/>
          </a:xfrm>
          <a:prstGeom prst="roundRect">
            <a:avLst>
              <a:gd name="adj" fmla="val 11905"/>
            </a:avLst>
          </a:prstGeom>
          <a:solidFill>
            <a:srgbClr val="97BC62">
              <a:alpha val="45000"/>
            </a:srgbClr>
          </a:solidFill>
          <a:ln/>
        </p:spPr>
      </p:sp>
      <p:sp>
        <p:nvSpPr>
          <p:cNvPr id="27" name="Text 25"/>
          <p:cNvSpPr/>
          <p:nvPr/>
        </p:nvSpPr>
        <p:spPr>
          <a:xfrm>
            <a:off x="9509760" y="4133088"/>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Illuk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5029200" y="4608576"/>
            <a:ext cx="2084832" cy="384048"/>
          </a:xfrm>
          <a:prstGeom prst="roundRect">
            <a:avLst>
              <a:gd name="adj" fmla="val 11905"/>
            </a:avLst>
          </a:prstGeom>
          <a:solidFill>
            <a:srgbClr val="97BC62">
              <a:alpha val="45000"/>
            </a:srgbClr>
          </a:solidFill>
          <a:ln/>
        </p:spPr>
      </p:sp>
      <p:sp>
        <p:nvSpPr>
          <p:cNvPr id="29" name="Text 27"/>
          <p:cNvSpPr/>
          <p:nvPr/>
        </p:nvSpPr>
        <p:spPr>
          <a:xfrm>
            <a:off x="5029200" y="4608576"/>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Mina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7269480" y="4608576"/>
            <a:ext cx="2084832" cy="384048"/>
          </a:xfrm>
          <a:prstGeom prst="roundRect">
            <a:avLst>
              <a:gd name="adj" fmla="val 11905"/>
            </a:avLst>
          </a:prstGeom>
          <a:solidFill>
            <a:srgbClr val="97BC62">
              <a:alpha val="45000"/>
            </a:srgbClr>
          </a:solidFill>
          <a:ln/>
        </p:spPr>
      </p:sp>
      <p:sp>
        <p:nvSpPr>
          <p:cNvPr id="31" name="Text 29"/>
          <p:cNvSpPr/>
          <p:nvPr/>
        </p:nvSpPr>
        <p:spPr>
          <a:xfrm>
            <a:off x="7269480" y="4608576"/>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Tara Devi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9509760" y="4608576"/>
            <a:ext cx="2084832" cy="384048"/>
          </a:xfrm>
          <a:prstGeom prst="roundRect">
            <a:avLst>
              <a:gd name="adj" fmla="val 11905"/>
            </a:avLst>
          </a:prstGeom>
          <a:solidFill>
            <a:srgbClr val="97BC62">
              <a:alpha val="45000"/>
            </a:srgbClr>
          </a:solidFill>
          <a:ln/>
        </p:spPr>
      </p:sp>
      <p:sp>
        <p:nvSpPr>
          <p:cNvPr id="33" name="Text 31"/>
          <p:cNvSpPr/>
          <p:nvPr/>
        </p:nvSpPr>
        <p:spPr>
          <a:xfrm>
            <a:off x="9509760" y="4608576"/>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Pazhani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5029200" y="5084064"/>
            <a:ext cx="2084832" cy="384048"/>
          </a:xfrm>
          <a:prstGeom prst="roundRect">
            <a:avLst>
              <a:gd name="adj" fmla="val 11905"/>
            </a:avLst>
          </a:prstGeom>
          <a:solidFill>
            <a:srgbClr val="97BC62">
              <a:alpha val="45000"/>
            </a:srgbClr>
          </a:solidFill>
          <a:ln/>
        </p:spPr>
      </p:sp>
      <p:sp>
        <p:nvSpPr>
          <p:cNvPr id="35" name="Text 33"/>
          <p:cNvSpPr/>
          <p:nvPr/>
        </p:nvSpPr>
        <p:spPr>
          <a:xfrm>
            <a:off x="5029200" y="5084064"/>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Talatha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7269480" y="5084064"/>
            <a:ext cx="2084832" cy="384048"/>
          </a:xfrm>
          <a:prstGeom prst="roundRect">
            <a:avLst>
              <a:gd name="adj" fmla="val 11905"/>
            </a:avLst>
          </a:prstGeom>
          <a:solidFill>
            <a:srgbClr val="97BC62">
              <a:alpha val="45000"/>
            </a:srgbClr>
          </a:solidFill>
          <a:ln/>
        </p:spPr>
      </p:sp>
      <p:sp>
        <p:nvSpPr>
          <p:cNvPr id="37" name="Text 35"/>
          <p:cNvSpPr/>
          <p:nvPr/>
        </p:nvSpPr>
        <p:spPr>
          <a:xfrm>
            <a:off x="7269480" y="5084064"/>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Rahu</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9509760" y="5084064"/>
            <a:ext cx="2084832" cy="384048"/>
          </a:xfrm>
          <a:prstGeom prst="roundRect">
            <a:avLst>
              <a:gd name="adj" fmla="val 11905"/>
            </a:avLst>
          </a:prstGeom>
          <a:solidFill>
            <a:srgbClr val="97BC62">
              <a:alpha val="45000"/>
            </a:srgbClr>
          </a:solidFill>
          <a:ln/>
        </p:spPr>
      </p:sp>
      <p:sp>
        <p:nvSpPr>
          <p:cNvPr id="39" name="Text 37"/>
          <p:cNvSpPr/>
          <p:nvPr/>
        </p:nvSpPr>
        <p:spPr>
          <a:xfrm>
            <a:off x="9509760" y="5084064"/>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Damien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5029200" y="5559552"/>
            <a:ext cx="2084832" cy="384048"/>
          </a:xfrm>
          <a:prstGeom prst="roundRect">
            <a:avLst>
              <a:gd name="adj" fmla="val 11905"/>
            </a:avLst>
          </a:prstGeom>
          <a:solidFill>
            <a:srgbClr val="97BC62">
              <a:alpha val="45000"/>
            </a:srgbClr>
          </a:solidFill>
          <a:ln/>
        </p:spPr>
      </p:sp>
      <p:sp>
        <p:nvSpPr>
          <p:cNvPr id="41" name="Text 39"/>
          <p:cNvSpPr/>
          <p:nvPr/>
        </p:nvSpPr>
        <p:spPr>
          <a:xfrm>
            <a:off x="5029200" y="5559552"/>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female_1</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7269480" y="5559552"/>
            <a:ext cx="2084832" cy="384048"/>
          </a:xfrm>
          <a:prstGeom prst="roundRect">
            <a:avLst>
              <a:gd name="adj" fmla="val 11905"/>
            </a:avLst>
          </a:prstGeom>
          <a:solidFill>
            <a:srgbClr val="97BC62">
              <a:alpha val="45000"/>
            </a:srgbClr>
          </a:solidFill>
          <a:ln/>
        </p:spPr>
      </p:sp>
      <p:sp>
        <p:nvSpPr>
          <p:cNvPr id="43" name="Text 41"/>
          <p:cNvSpPr/>
          <p:nvPr/>
        </p:nvSpPr>
        <p:spPr>
          <a:xfrm>
            <a:off x="7269480" y="5559552"/>
            <a:ext cx="208483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B3B1C"/>
                </a:solidFill>
                <a:effectLst/>
                <a:uLnTx/>
                <a:uFillTx/>
                <a:latin typeface="Calibri" pitchFamily="34" charset="0"/>
                <a:ea typeface="Calibri" pitchFamily="34" charset="-122"/>
                <a:cs typeface="Calibri" pitchFamily="34" charset="-120"/>
              </a:rPr>
              <a:t>Wilmini</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548640" y="5212080"/>
            <a:ext cx="4206240" cy="731520"/>
          </a:xfrm>
          <a:prstGeom prst="rect">
            <a:avLst/>
          </a:prstGeom>
          <a:noFill/>
          <a:ln/>
        </p:spPr>
        <p:txBody>
          <a:bodyPr wrap="square" lIns="0" tIns="0" rIns="0" bIns="0" rtlCol="0" anchor="ct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2C5F2D"/>
                </a:solidFill>
                <a:effectLst/>
                <a:uLnTx/>
                <a:uFillTx/>
                <a:latin typeface="Calibri" pitchFamily="34" charset="0"/>
                <a:ea typeface="Calibri" pitchFamily="34" charset="-122"/>
                <a:cs typeface="Calibri" pitchFamily="34" charset="-120"/>
              </a:rPr>
              <a:t>After cleaning: 16,735 valid GPS records across 14 elephants.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4"/>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5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Cleaning Criteria Applied to the Tracking Data</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Table 0"/>
          <p:cNvGraphicFramePr>
            <a:graphicFrameLocks noGrp="1"/>
          </p:cNvGraphicFramePr>
          <p:nvPr/>
        </p:nvGraphicFramePr>
        <p:xfrm>
          <a:off x="548640" y="1371600"/>
          <a:ext cx="11276215" cy="3291840"/>
        </p:xfrm>
        <a:graphic>
          <a:graphicData uri="http://schemas.openxmlformats.org/drawingml/2006/table">
            <a:tbl>
              <a:tblPr/>
              <a:tblGrid>
                <a:gridCol w="457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gridCol w="1309255">
                  <a:extLst>
                    <a:ext uri="{9D8B030D-6E8A-4147-A177-3AD203B41FA5}">
                      <a16:colId xmlns:a16="http://schemas.microsoft.com/office/drawing/2014/main" val="20004"/>
                    </a:ext>
                  </a:extLst>
                </a:gridCol>
              </a:tblGrid>
              <a:tr h="5486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 applied</a:t>
                      </a:r>
                      <a:endParaRPr lang="en-US" sz="140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Removed</a:t>
                      </a:r>
                      <a:endParaRPr lang="en-US" sz="140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Name correction</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Collar 6165 “…” renamed female_1</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The unnamed animal needed a stable label</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Valid timestamp</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Date and time must be readable</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A corrupt time cannot be placed on the timeline</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Coordinates present</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Latitude and longitude not blank</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No position means no movement</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Inside Sri Lanka</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Lat 5.9–9.9, Lon 79.5–81.9</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Impossible positions from poor satellite geometry</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GPS accuracy</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HDOP ≤ 10</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High HDOP means an error of hundreds of metres</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tc>
                  <a:txBody>
                    <a:bodyPr/>
                    <a:lstStyle/>
                    <a:p>
                      <a:pPr marL="0" indent="0">
                        <a:buNone/>
                      </a:pPr>
                      <a:r>
                        <a:rPr lang="en-US" sz="1250" dirty="0">
                          <a:solidFill>
                            <a:srgbClr val="23301F"/>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88900" marR="88900" marT="88900" marB="88900" anchor="ctr">
                    <a:lnL w="12700" cap="flat" cmpd="sng" algn="ctr">
                      <a:solidFill>
                        <a:srgbClr val="DCE4D6"/>
                      </a:solidFill>
                      <a:prstDash val="solid"/>
                      <a:round/>
                      <a:headEnd type="none" w="med" len="med"/>
                      <a:tailEnd type="none" w="med" len="med"/>
                    </a:lnL>
                    <a:lnR w="12700" cap="flat" cmpd="sng" algn="ctr">
                      <a:solidFill>
                        <a:srgbClr val="DCE4D6"/>
                      </a:solidFill>
                      <a:prstDash val="solid"/>
                      <a:round/>
                      <a:headEnd type="none" w="med" len="med"/>
                      <a:tailEnd type="none" w="med" len="med"/>
                    </a:lnR>
                    <a:lnT w="12700" cap="flat" cmpd="sng" algn="ctr">
                      <a:solidFill>
                        <a:srgbClr val="DCE4D6"/>
                      </a:solidFill>
                      <a:prstDash val="solid"/>
                      <a:round/>
                      <a:headEnd type="none" w="med" len="med"/>
                      <a:tailEnd type="none" w="med" len="med"/>
                    </a:lnT>
                    <a:lnB w="12700" cap="flat" cmpd="sng" algn="ctr">
                      <a:solidFill>
                        <a:srgbClr val="DCE4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548640" y="4892040"/>
            <a:ext cx="11064240" cy="1143000"/>
          </a:xfrm>
          <a:prstGeom prst="roundRect">
            <a:avLst>
              <a:gd name="adj" fmla="val 4800"/>
            </a:avLst>
          </a:prstGeom>
          <a:solidFill>
            <a:srgbClr val="F5F5F5"/>
          </a:solidFill>
          <a:ln/>
        </p:spPr>
      </p:sp>
      <p:sp>
        <p:nvSpPr>
          <p:cNvPr id="5" name="Text 2"/>
          <p:cNvSpPr/>
          <p:nvPr/>
        </p:nvSpPr>
        <p:spPr>
          <a:xfrm>
            <a:off x="868680" y="5074920"/>
            <a:ext cx="10424160" cy="82296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400" b="1"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Total removed: 12 records out of 16,747 = 0.07%</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400" b="0" i="0" u="none" strike="noStrike" kern="1200" cap="none" spc="0" normalizeH="0" baseline="0" noProof="0" dirty="0">
                <a:ln>
                  <a:noFill/>
                </a:ln>
                <a:solidFill>
                  <a:srgbClr val="23301F"/>
                </a:solidFill>
                <a:effectLst/>
                <a:uLnTx/>
                <a:uFillTx/>
                <a:latin typeface="Calibri" pitchFamily="34" charset="0"/>
                <a:ea typeface="Calibri" pitchFamily="34" charset="-122"/>
                <a:cs typeface="Calibri" pitchFamily="34" charset="-120"/>
              </a:rPr>
              <a:t>No interpolation applied. Missing hours were left blank, not filled with estimated positions.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4"/>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6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B3B1C"/>
                </a:solidFill>
                <a:effectLst/>
                <a:uLnTx/>
                <a:uFillTx/>
                <a:latin typeface="Cambria" pitchFamily="34" charset="0"/>
                <a:ea typeface="Cambria" pitchFamily="34" charset="-122"/>
                <a:cs typeface="Cambria" pitchFamily="34" charset="-120"/>
              </a:rPr>
              <a:t>Data Availability by Elephant</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Table 0"/>
          <p:cNvGraphicFramePr>
            <a:graphicFrameLocks noGrp="1"/>
          </p:cNvGraphicFramePr>
          <p:nvPr/>
        </p:nvGraphicFramePr>
        <p:xfrm>
          <a:off x="548640" y="1234440"/>
          <a:ext cx="11229455" cy="5101336"/>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280160">
                  <a:extLst>
                    <a:ext uri="{9D8B030D-6E8A-4147-A177-3AD203B41FA5}">
                      <a16:colId xmlns:a16="http://schemas.microsoft.com/office/drawing/2014/main" val="20007"/>
                    </a:ext>
                  </a:extLst>
                </a:gridCol>
                <a:gridCol w="1353935">
                  <a:extLst>
                    <a:ext uri="{9D8B030D-6E8A-4147-A177-3AD203B41FA5}">
                      <a16:colId xmlns:a16="http://schemas.microsoft.com/office/drawing/2014/main" val="20008"/>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Collar</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Sex</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Start</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End</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Days</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Fixes</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Expected</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Available</a:t>
                      </a:r>
                      <a:r>
                        <a:rPr lang="en-US" sz="1200" b="1" baseline="0" dirty="0">
                          <a:solidFill>
                            <a:srgbClr val="FFFFFF"/>
                          </a:solidFill>
                          <a:latin typeface="Calibri" pitchFamily="34" charset="0"/>
                          <a:ea typeface="Calibri" pitchFamily="34" charset="-122"/>
                          <a:cs typeface="Calibri" pitchFamily="34" charset="-120"/>
                        </a:rPr>
                        <a:t> Percentage</a:t>
                      </a:r>
                      <a:endParaRPr lang="en-US" sz="12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6119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Pazhani</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2025-09-07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2025-09-09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6182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Damien</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2025-09-08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2025-09-09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0.6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6156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Wilmini</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2024-10-16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2024-10-22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131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157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83.4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6123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Rahu</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2025-10-20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2025-11-13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357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577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61.9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04"/>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6155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Gothami</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2024-08-23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2025-11-11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444.9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5,373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10,678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50.3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6129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Kasun</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2025-07-13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2025-07-30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18.0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193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432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44.7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06"/>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6121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Recollared female</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2024-08-25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2026-06-17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660.9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5,127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15,862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32.3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6165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female_1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2024-08-23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2025-07-23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334.0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2,354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8,018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29.4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08"/>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6144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Illuk</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2025-06-22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2025-07-20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27.9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671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13.0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6139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Mina</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2024-07-14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2025-10-27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470.0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1,045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11,280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9.3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10"/>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6114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Talatha</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2024-07-18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2025-10-27</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466.2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11,191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6131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Dona</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2024-09-09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2025-08-06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331.0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464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7,946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12"/>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6154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Dewmi</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2024-11-09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2025-11-28</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384.0</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451</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9,216</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29184">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6179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Tara Devi</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ctr">
                        <a:buNone/>
                      </a:pPr>
                      <a:r>
                        <a:rPr lang="en-US" sz="1100" dirty="0">
                          <a:solidFill>
                            <a:srgbClr val="23301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2024-07-22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l">
                        <a:buNone/>
                      </a:pPr>
                      <a:r>
                        <a:rPr lang="en-US" sz="1100" dirty="0">
                          <a:solidFill>
                            <a:srgbClr val="23301F"/>
                          </a:solidFill>
                          <a:latin typeface="Calibri" pitchFamily="34" charset="0"/>
                          <a:ea typeface="Calibri" pitchFamily="34" charset="-122"/>
                          <a:cs typeface="Calibri" pitchFamily="34" charset="-120"/>
                        </a:rPr>
                        <a:t>2025-10-09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443.9</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235</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dirty="0">
                          <a:solidFill>
                            <a:srgbClr val="23301F"/>
                          </a:solidFill>
                          <a:latin typeface="Calibri" pitchFamily="34" charset="0"/>
                          <a:ea typeface="Calibri" pitchFamily="34" charset="-122"/>
                          <a:cs typeface="Calibri" pitchFamily="34" charset="-120"/>
                        </a:rPr>
                        <a:t>10,654</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tc>
                  <a:txBody>
                    <a:bodyPr/>
                    <a:lstStyle/>
                    <a:p>
                      <a:pPr marL="0" indent="0" algn="r">
                        <a:buNone/>
                      </a:pPr>
                      <a:r>
                        <a:rPr lang="en-US" sz="1100" b="1" dirty="0">
                          <a:solidFill>
                            <a:srgbClr val="23301F"/>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63500" marB="63500" anchor="ctr">
                    <a:lnL w="12700" cap="flat" cmpd="sng" algn="ctr">
                      <a:solidFill>
                        <a:srgbClr val="E2E8DC"/>
                      </a:solidFill>
                      <a:prstDash val="solid"/>
                      <a:round/>
                      <a:headEnd type="none" w="med" len="med"/>
                      <a:tailEnd type="none" w="med" len="med"/>
                    </a:lnL>
                    <a:lnR w="12700" cap="flat" cmpd="sng" algn="ctr">
                      <a:solidFill>
                        <a:srgbClr val="E2E8DC"/>
                      </a:solidFill>
                      <a:prstDash val="solid"/>
                      <a:round/>
                      <a:headEnd type="none" w="med" len="med"/>
                      <a:tailEnd type="none" w="med" len="med"/>
                    </a:lnR>
                    <a:lnT w="12700" cap="flat" cmpd="sng" algn="ctr">
                      <a:solidFill>
                        <a:srgbClr val="E2E8DC"/>
                      </a:solidFill>
                      <a:prstDash val="solid"/>
                      <a:round/>
                      <a:headEnd type="none" w="med" len="med"/>
                      <a:tailEnd type="none" w="med" len="med"/>
                    </a:lnT>
                    <a:lnB w="12700" cap="flat" cmpd="sng" algn="ctr">
                      <a:solidFill>
                        <a:srgbClr val="E2E8DC"/>
                      </a:solidFill>
                      <a:prstDash val="solid"/>
                      <a:round/>
                      <a:headEnd type="none" w="med" len="med"/>
                      <a:tailEnd type="none" w="med" len="med"/>
                    </a:lnB>
                    <a:solidFill>
                      <a:srgbClr val="F3F6F0"/>
                    </a:solidFill>
                  </a:tcPr>
                </a:tc>
                <a:extLst>
                  <a:ext uri="{0D108BD9-81ED-4DB2-BD59-A6C34878D82A}">
                    <a16:rowId xmlns:a16="http://schemas.microsoft.com/office/drawing/2014/main" val="10014"/>
                  </a:ext>
                </a:extLst>
              </a:tr>
            </a:tbl>
          </a:graphicData>
        </a:graphic>
      </p:graphicFrame>
      <p:sp>
        <p:nvSpPr>
          <p:cNvPr id="4" name="Text 1"/>
          <p:cNvSpPr/>
          <p:nvPr/>
        </p:nvSpPr>
        <p:spPr>
          <a:xfrm>
            <a:off x="548640" y="635508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10515600" y="6355080"/>
            <a:ext cx="1097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B7A63"/>
                </a:solidFill>
                <a:effectLst/>
                <a:uLnTx/>
                <a:uFillTx/>
                <a:latin typeface="Calibri" pitchFamily="34" charset="0"/>
                <a:ea typeface="Calibri" pitchFamily="34" charset="-122"/>
                <a:cs typeface="Calibri" pitchFamily="34" charset="-120"/>
              </a:rPr>
              <a:t>7 / 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914400"/>
          </a:xfrm>
          <a:prstGeom prst="rect">
            <a:avLst/>
          </a:prstGeom>
          <a:noFill/>
          <a:ln/>
        </p:spPr>
        <p:txBody>
          <a:bodyPr wrap="square" rtlCol="0" anchor="ctr"/>
          <a:lstStyle/>
          <a:p>
            <a:pPr algn="ctr"/>
            <a:r>
              <a:rPr lang="en-US" sz="3800" dirty="0">
                <a:solidFill>
                  <a:srgbClr val="FFFFFF"/>
                </a:solidFill>
                <a:latin typeface="Georgia" pitchFamily="34" charset="0"/>
                <a:ea typeface="Georgia" pitchFamily="34" charset="-122"/>
                <a:cs typeface="Georgia" pitchFamily="34" charset="-120"/>
              </a:rPr>
              <a:t>Movement Analysis of Elephants</a:t>
            </a:r>
            <a:endParaRPr lang="en-US" sz="3800" dirty="0"/>
          </a:p>
        </p:txBody>
      </p:sp>
      <p:sp>
        <p:nvSpPr>
          <p:cNvPr id="5"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6"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Landscape-Level Movement</a:t>
            </a:r>
            <a:endParaRPr lang="en-US" sz="2800" dirty="0"/>
          </a:p>
        </p:txBody>
      </p:sp>
      <p:sp>
        <p:nvSpPr>
          <p:cNvPr id="3" name="Text 1"/>
          <p:cNvSpPr/>
          <p:nvPr/>
        </p:nvSpPr>
        <p:spPr>
          <a:xfrm>
            <a:off x="640080" y="1234440"/>
            <a:ext cx="10881360" cy="731520"/>
          </a:xfrm>
          <a:prstGeom prst="rect">
            <a:avLst/>
          </a:prstGeom>
          <a:noFill/>
          <a:ln/>
        </p:spPr>
        <p:txBody>
          <a:bodyPr wrap="square" rtlCol="0" anchor="t"/>
          <a:lstStyle/>
          <a:p>
            <a:pPr marL="0" indent="0" algn="l">
              <a:lnSpc>
                <a:spcPct val="125000"/>
              </a:lnSpc>
              <a:buNone/>
            </a:pPr>
            <a:r>
              <a:rPr lang="en-US" sz="1600" dirty="0">
                <a:solidFill>
                  <a:srgbClr val="1F2A24"/>
                </a:solidFill>
                <a:latin typeface="Calibri" pitchFamily="34" charset="0"/>
                <a:ea typeface="Calibri" pitchFamily="34" charset="-122"/>
                <a:cs typeface="Calibri" pitchFamily="34" charset="-120"/>
              </a:rPr>
              <a:t>All tracked elephants use a common landscape centered around the Kaudulla Reservoir, with many also moving towards the Ralapanawa Nature Reserve.</a:t>
            </a:r>
            <a:endParaRPr lang="en-US" sz="1600" dirty="0"/>
          </a:p>
        </p:txBody>
      </p:sp>
      <p:sp>
        <p:nvSpPr>
          <p:cNvPr id="4" name="Shape 2"/>
          <p:cNvSpPr/>
          <p:nvPr/>
        </p:nvSpPr>
        <p:spPr>
          <a:xfrm>
            <a:off x="1268821" y="2057400"/>
            <a:ext cx="9623877" cy="4297680"/>
          </a:xfrm>
          <a:prstGeom prst="roundRect">
            <a:avLst>
              <a:gd name="adj" fmla="val 1064"/>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landscape_s1_1.png"/>
          <p:cNvPicPr>
            <a:picLocks noChangeAspect="1"/>
          </p:cNvPicPr>
          <p:nvPr/>
        </p:nvPicPr>
        <p:blipFill>
          <a:blip r:embed="rId3"/>
          <a:stretch>
            <a:fillRect/>
          </a:stretch>
        </p:blipFill>
        <p:spPr>
          <a:xfrm>
            <a:off x="1360261" y="2148840"/>
            <a:ext cx="9440997" cy="4114800"/>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Movement Pattern Observation</a:t>
            </a:r>
            <a:endParaRPr lang="en-US" sz="2800" dirty="0"/>
          </a:p>
        </p:txBody>
      </p:sp>
      <p:sp>
        <p:nvSpPr>
          <p:cNvPr id="3" name="Text 1"/>
          <p:cNvSpPr/>
          <p:nvPr/>
        </p:nvSpPr>
        <p:spPr>
          <a:xfrm>
            <a:off x="640080" y="1234440"/>
            <a:ext cx="10881360" cy="731520"/>
          </a:xfrm>
          <a:prstGeom prst="rect">
            <a:avLst/>
          </a:prstGeom>
          <a:noFill/>
          <a:ln/>
        </p:spPr>
        <p:txBody>
          <a:bodyPr wrap="square" rtlCol="0" anchor="t"/>
          <a:lstStyle/>
          <a:p>
            <a:pPr marL="0" indent="0" algn="l">
              <a:lnSpc>
                <a:spcPct val="125000"/>
              </a:lnSpc>
              <a:buNone/>
            </a:pPr>
            <a:r>
              <a:rPr lang="en-US" sz="1600" dirty="0">
                <a:solidFill>
                  <a:srgbClr val="1F2A24"/>
                </a:solidFill>
                <a:latin typeface="Calibri" pitchFamily="34" charset="0"/>
                <a:ea typeface="Calibri" pitchFamily="34" charset="-122"/>
                <a:cs typeface="Calibri" pitchFamily="34" charset="-120"/>
              </a:rPr>
              <a:t>An interesting observation is that Gothami and female_1 show very similar movement patterns during September, October, and November 2024.</a:t>
            </a:r>
            <a:endParaRPr lang="en-US" sz="1600" dirty="0"/>
          </a:p>
        </p:txBody>
      </p:sp>
      <p:sp>
        <p:nvSpPr>
          <p:cNvPr id="4" name="Shape 2"/>
          <p:cNvSpPr/>
          <p:nvPr/>
        </p:nvSpPr>
        <p:spPr>
          <a:xfrm>
            <a:off x="731520" y="2258429"/>
            <a:ext cx="10698480" cy="3895622"/>
          </a:xfrm>
          <a:prstGeom prst="roundRect">
            <a:avLst>
              <a:gd name="adj" fmla="val 1174"/>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landscape_s2_1.png"/>
          <p:cNvPicPr>
            <a:picLocks noChangeAspect="1"/>
          </p:cNvPicPr>
          <p:nvPr/>
        </p:nvPicPr>
        <p:blipFill>
          <a:blip r:embed="rId3"/>
          <a:stretch>
            <a:fillRect/>
          </a:stretch>
        </p:blipFill>
        <p:spPr>
          <a:xfrm>
            <a:off x="822960" y="2349869"/>
            <a:ext cx="10515600" cy="3712742"/>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71600" y="849564"/>
            <a:ext cx="9418320" cy="5158871"/>
          </a:xfrm>
          <a:prstGeom prst="roundRect">
            <a:avLst>
              <a:gd name="adj" fmla="val 886"/>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3" name="Image 0" descr="/home/claude/work/assets2/landscape_s3_1.png"/>
          <p:cNvPicPr>
            <a:picLocks noChangeAspect="1"/>
          </p:cNvPicPr>
          <p:nvPr/>
        </p:nvPicPr>
        <p:blipFill>
          <a:blip r:embed="rId3"/>
          <a:stretch>
            <a:fillRect/>
          </a:stretch>
        </p:blipFill>
        <p:spPr>
          <a:xfrm>
            <a:off x="1463040" y="941004"/>
            <a:ext cx="9235440" cy="4975991"/>
          </a:xfrm>
          <a:prstGeom prst="rect">
            <a:avLst/>
          </a:prstGeom>
        </p:spPr>
      </p:pic>
      <p:sp>
        <p:nvSpPr>
          <p:cNvPr id="4" name="Text 1"/>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5" name="Text 2"/>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Movement Pattern Observation</a:t>
            </a:r>
            <a:endParaRPr lang="en-US" sz="2800" dirty="0"/>
          </a:p>
        </p:txBody>
      </p:sp>
      <p:sp>
        <p:nvSpPr>
          <p:cNvPr id="3" name="Text 1"/>
          <p:cNvSpPr/>
          <p:nvPr/>
        </p:nvSpPr>
        <p:spPr>
          <a:xfrm>
            <a:off x="640080" y="1371600"/>
            <a:ext cx="5029200" cy="2743200"/>
          </a:xfrm>
          <a:prstGeom prst="rect">
            <a:avLst/>
          </a:prstGeom>
          <a:noFill/>
          <a:ln/>
        </p:spPr>
        <p:txBody>
          <a:bodyPr wrap="square" rtlCol="0" anchor="t"/>
          <a:lstStyle/>
          <a:p>
            <a:pPr marL="0" indent="0" algn="l">
              <a:lnSpc>
                <a:spcPct val="130000"/>
              </a:lnSpc>
              <a:buNone/>
            </a:pPr>
            <a:r>
              <a:rPr lang="en-US" sz="1600" dirty="0">
                <a:solidFill>
                  <a:srgbClr val="1F2A24"/>
                </a:solidFill>
                <a:latin typeface="Calibri" pitchFamily="34" charset="0"/>
                <a:ea typeface="Calibri" pitchFamily="34" charset="-122"/>
                <a:cs typeface="Calibri" pitchFamily="34" charset="-120"/>
              </a:rPr>
              <a:t>Dona mainly stayed in the northern part of the park, while Recollared_Female showed a unique pattern with frequent visits to both the railway track area and the upper region.</a:t>
            </a:r>
            <a:endParaRPr lang="en-US" sz="1600" dirty="0"/>
          </a:p>
        </p:txBody>
      </p:sp>
      <p:sp>
        <p:nvSpPr>
          <p:cNvPr id="4" name="Shape 2"/>
          <p:cNvSpPr/>
          <p:nvPr/>
        </p:nvSpPr>
        <p:spPr>
          <a:xfrm>
            <a:off x="5852160" y="1529914"/>
            <a:ext cx="5577840" cy="4438252"/>
          </a:xfrm>
          <a:prstGeom prst="roundRect">
            <a:avLst>
              <a:gd name="adj" fmla="val 1030"/>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landscape_s4_1.png"/>
          <p:cNvPicPr>
            <a:picLocks noChangeAspect="1"/>
          </p:cNvPicPr>
          <p:nvPr/>
        </p:nvPicPr>
        <p:blipFill>
          <a:blip r:embed="rId3"/>
          <a:stretch>
            <a:fillRect/>
          </a:stretch>
        </p:blipFill>
        <p:spPr>
          <a:xfrm>
            <a:off x="5943600" y="1621354"/>
            <a:ext cx="5394960" cy="4255372"/>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1005840"/>
          </a:xfrm>
          <a:prstGeom prst="rect">
            <a:avLst/>
          </a:prstGeom>
          <a:noFill/>
          <a:ln/>
        </p:spPr>
        <p:txBody>
          <a:bodyPr wrap="square" rtlCol="0" anchor="t"/>
          <a:lstStyle/>
          <a:p>
            <a:pPr marL="0" indent="0" algn="l">
              <a:lnSpc>
                <a:spcPct val="125000"/>
              </a:lnSpc>
              <a:buNone/>
            </a:pPr>
            <a:r>
              <a:rPr lang="en-US" sz="2400" dirty="0">
                <a:solidFill>
                  <a:srgbClr val="1F2A24"/>
                </a:solidFill>
                <a:latin typeface="Calibri" pitchFamily="34" charset="0"/>
                <a:ea typeface="Calibri" pitchFamily="34" charset="-122"/>
                <a:cs typeface="Calibri" pitchFamily="34" charset="-120"/>
              </a:rPr>
              <a:t>Kasun and Rahu demonstrated the widest directional movement, whereas Damian and Iluk followed more focused movement routes, indicating individual differences in space use.</a:t>
            </a:r>
            <a:endParaRPr lang="en-US" sz="2400" dirty="0"/>
          </a:p>
        </p:txBody>
      </p:sp>
      <p:sp>
        <p:nvSpPr>
          <p:cNvPr id="3" name="Shape 1"/>
          <p:cNvSpPr/>
          <p:nvPr/>
        </p:nvSpPr>
        <p:spPr>
          <a:xfrm>
            <a:off x="457200" y="2038069"/>
            <a:ext cx="5303520" cy="3879142"/>
          </a:xfrm>
          <a:prstGeom prst="roundRect">
            <a:avLst>
              <a:gd name="adj" fmla="val 1179"/>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4" name="Image 0" descr="/home/claude/work/assets2/homerange_s2_2.png"/>
          <p:cNvPicPr>
            <a:picLocks noChangeAspect="1"/>
          </p:cNvPicPr>
          <p:nvPr/>
        </p:nvPicPr>
        <p:blipFill>
          <a:blip r:embed="rId3"/>
          <a:stretch>
            <a:fillRect/>
          </a:stretch>
        </p:blipFill>
        <p:spPr>
          <a:xfrm>
            <a:off x="548640" y="2129509"/>
            <a:ext cx="5120640" cy="3696262"/>
          </a:xfrm>
          <a:prstGeom prst="rect">
            <a:avLst/>
          </a:prstGeom>
        </p:spPr>
      </p:pic>
      <p:sp>
        <p:nvSpPr>
          <p:cNvPr id="5" name="Shape 2"/>
          <p:cNvSpPr/>
          <p:nvPr/>
        </p:nvSpPr>
        <p:spPr>
          <a:xfrm>
            <a:off x="5943600" y="1824723"/>
            <a:ext cx="5669280" cy="4305835"/>
          </a:xfrm>
          <a:prstGeom prst="roundRect">
            <a:avLst>
              <a:gd name="adj" fmla="val 1062"/>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6" name="Image 1" descr="/home/claude/work/assets2/homerange_s2_1.png"/>
          <p:cNvPicPr>
            <a:picLocks noChangeAspect="1"/>
          </p:cNvPicPr>
          <p:nvPr/>
        </p:nvPicPr>
        <p:blipFill>
          <a:blip r:embed="rId4"/>
          <a:stretch>
            <a:fillRect/>
          </a:stretch>
        </p:blipFill>
        <p:spPr>
          <a:xfrm>
            <a:off x="6035040" y="1916163"/>
            <a:ext cx="5486400" cy="4122955"/>
          </a:xfrm>
          <a:prstGeom prst="rect">
            <a:avLst/>
          </a:prstGeom>
        </p:spPr>
      </p:pic>
      <p:sp>
        <p:nvSpPr>
          <p:cNvPr id="7"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8"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914400"/>
          </a:xfrm>
          <a:prstGeom prst="rect">
            <a:avLst/>
          </a:prstGeom>
          <a:noFill/>
          <a:ln/>
        </p:spPr>
        <p:txBody>
          <a:bodyPr wrap="square" rtlCol="0" anchor="t"/>
          <a:lstStyle/>
          <a:p>
            <a:pPr marL="0" indent="0" algn="l">
              <a:lnSpc>
                <a:spcPct val="125000"/>
              </a:lnSpc>
              <a:buNone/>
            </a:pPr>
            <a:r>
              <a:rPr lang="en-US" sz="2400" dirty="0">
                <a:solidFill>
                  <a:srgbClr val="1F2A24"/>
                </a:solidFill>
                <a:latin typeface="Calibri" pitchFamily="34" charset="0"/>
                <a:ea typeface="Calibri" pitchFamily="34" charset="-122"/>
                <a:cs typeface="Calibri" pitchFamily="34" charset="-120"/>
              </a:rPr>
              <a:t>Female elephants displayed balanced movement in nearly all directions, suggesting widespread use of available habitat with only minor variation in directional frequency.</a:t>
            </a:r>
            <a:endParaRPr lang="en-US" sz="2400" dirty="0"/>
          </a:p>
        </p:txBody>
      </p:sp>
      <p:sp>
        <p:nvSpPr>
          <p:cNvPr id="3" name="Shape 1"/>
          <p:cNvSpPr/>
          <p:nvPr/>
        </p:nvSpPr>
        <p:spPr>
          <a:xfrm>
            <a:off x="457200" y="2004113"/>
            <a:ext cx="5303520" cy="3855615"/>
          </a:xfrm>
          <a:prstGeom prst="roundRect">
            <a:avLst>
              <a:gd name="adj" fmla="val 1186"/>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4" name="Image 0" descr="/home/claude/work/assets2/homerange_s3_2.png"/>
          <p:cNvPicPr>
            <a:picLocks noChangeAspect="1"/>
          </p:cNvPicPr>
          <p:nvPr/>
        </p:nvPicPr>
        <p:blipFill>
          <a:blip r:embed="rId3"/>
          <a:stretch>
            <a:fillRect/>
          </a:stretch>
        </p:blipFill>
        <p:spPr>
          <a:xfrm>
            <a:off x="548640" y="2095553"/>
            <a:ext cx="5120640" cy="3672735"/>
          </a:xfrm>
          <a:prstGeom prst="rect">
            <a:avLst/>
          </a:prstGeom>
        </p:spPr>
      </p:pic>
      <p:sp>
        <p:nvSpPr>
          <p:cNvPr id="5" name="Shape 2"/>
          <p:cNvSpPr/>
          <p:nvPr/>
        </p:nvSpPr>
        <p:spPr>
          <a:xfrm>
            <a:off x="6304008" y="1554480"/>
            <a:ext cx="4948464" cy="4754880"/>
          </a:xfrm>
          <a:prstGeom prst="roundRect">
            <a:avLst>
              <a:gd name="adj" fmla="val 962"/>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6" name="Image 1" descr="/home/claude/work/assets2/homerange_s3_1.png"/>
          <p:cNvPicPr>
            <a:picLocks noChangeAspect="1"/>
          </p:cNvPicPr>
          <p:nvPr/>
        </p:nvPicPr>
        <p:blipFill>
          <a:blip r:embed="rId4"/>
          <a:stretch>
            <a:fillRect/>
          </a:stretch>
        </p:blipFill>
        <p:spPr>
          <a:xfrm>
            <a:off x="6395448" y="1645920"/>
            <a:ext cx="4765584" cy="4572000"/>
          </a:xfrm>
          <a:prstGeom prst="rect">
            <a:avLst/>
          </a:prstGeom>
        </p:spPr>
      </p:pic>
      <p:sp>
        <p:nvSpPr>
          <p:cNvPr id="7"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8"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05840"/>
          </a:xfrm>
          <a:prstGeom prst="rect">
            <a:avLst/>
          </a:prstGeom>
          <a:noFill/>
          <a:ln/>
        </p:spPr>
        <p:txBody>
          <a:bodyPr wrap="square" rtlCol="0" anchor="t"/>
          <a:lstStyle/>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The per-elephant summary table provides an overall comparison of tracking duration, movement, home range size, GPS data availability, and movement speed for each elephant, allowing individual movement behavior and space-use patterns to be compared across the study population.</a:t>
            </a:r>
            <a:endParaRPr lang="en-US" sz="2000" dirty="0"/>
          </a:p>
        </p:txBody>
      </p:sp>
      <p:sp>
        <p:nvSpPr>
          <p:cNvPr id="3" name="Shape 1"/>
          <p:cNvSpPr/>
          <p:nvPr/>
        </p:nvSpPr>
        <p:spPr>
          <a:xfrm>
            <a:off x="548640" y="1525370"/>
            <a:ext cx="11064240" cy="4995979"/>
          </a:xfrm>
          <a:prstGeom prst="roundRect">
            <a:avLst>
              <a:gd name="adj" fmla="val 915"/>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4" name="Image 0" descr="/home/claude/work/assets2/homerange_s4_1.png"/>
          <p:cNvPicPr>
            <a:picLocks noChangeAspect="1"/>
          </p:cNvPicPr>
          <p:nvPr/>
        </p:nvPicPr>
        <p:blipFill>
          <a:blip r:embed="rId3"/>
          <a:stretch>
            <a:fillRect/>
          </a:stretch>
        </p:blipFill>
        <p:spPr>
          <a:xfrm>
            <a:off x="640080" y="1616810"/>
            <a:ext cx="10881360" cy="4813099"/>
          </a:xfrm>
          <a:prstGeom prst="rect">
            <a:avLst/>
          </a:prstGeom>
        </p:spPr>
      </p:pic>
      <p:sp>
        <p:nvSpPr>
          <p:cNvPr id="5" name="Text 2"/>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6" name="Text 3"/>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685800"/>
          </a:xfrm>
          <a:prstGeom prst="rect">
            <a:avLst/>
          </a:prstGeom>
          <a:noFill/>
          <a:ln/>
        </p:spPr>
        <p:txBody>
          <a:bodyPr wrap="square" rtlCol="0" anchor="ctr"/>
          <a:lstStyle/>
          <a:p>
            <a:r>
              <a:rPr lang="en-US" sz="3400" dirty="0">
                <a:solidFill>
                  <a:srgbClr val="FFFFFF"/>
                </a:solidFill>
                <a:latin typeface="Georgia" pitchFamily="34" charset="0"/>
                <a:ea typeface="Georgia" pitchFamily="34" charset="-122"/>
                <a:cs typeface="Georgia" pitchFamily="34" charset="-120"/>
              </a:rPr>
              <a:t>Movement Analysis with</a:t>
            </a:r>
            <a:r>
              <a:rPr lang="en-US" sz="3400" dirty="0"/>
              <a:t> </a:t>
            </a:r>
            <a:r>
              <a:rPr lang="en-US" sz="3400" dirty="0">
                <a:solidFill>
                  <a:srgbClr val="FFFFFF"/>
                </a:solidFill>
                <a:latin typeface="Georgia" pitchFamily="34" charset="0"/>
                <a:ea typeface="Georgia" pitchFamily="34" charset="-122"/>
                <a:cs typeface="Georgia" pitchFamily="34" charset="-120"/>
              </a:rPr>
              <a:t>Climate &amp; Vegetation Data</a:t>
            </a:r>
            <a:endParaRPr lang="en-US" sz="3400" dirty="0"/>
          </a:p>
        </p:txBody>
      </p:sp>
      <p:sp>
        <p:nvSpPr>
          <p:cNvPr id="5" name="Text 3"/>
          <p:cNvSpPr/>
          <p:nvPr/>
        </p:nvSpPr>
        <p:spPr>
          <a:xfrm>
            <a:off x="822960" y="3611880"/>
            <a:ext cx="10515600" cy="685800"/>
          </a:xfrm>
          <a:prstGeom prst="rect">
            <a:avLst/>
          </a:prstGeom>
          <a:noFill/>
          <a:ln/>
        </p:spPr>
        <p:txBody>
          <a:bodyPr wrap="square" rtlCol="0" anchor="ctr"/>
          <a:lstStyle/>
          <a:p>
            <a:pPr marL="0" indent="0">
              <a:buNone/>
            </a:pPr>
            <a:endParaRPr lang="en-US" sz="3400" dirty="0"/>
          </a:p>
        </p:txBody>
      </p:sp>
      <p:sp>
        <p:nvSpPr>
          <p:cNvPr id="6" name="Text 4"/>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5"/>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Climate-Driven Spatial Patterns of the Re-collared Female</a:t>
            </a:r>
            <a:endParaRPr lang="en-US" sz="2400" dirty="0"/>
          </a:p>
        </p:txBody>
      </p:sp>
      <p:sp>
        <p:nvSpPr>
          <p:cNvPr id="3" name="Text 1"/>
          <p:cNvSpPr/>
          <p:nvPr/>
        </p:nvSpPr>
        <p:spPr>
          <a:xfrm>
            <a:off x="640080" y="1737360"/>
            <a:ext cx="5120640" cy="3200400"/>
          </a:xfrm>
          <a:prstGeom prst="rect">
            <a:avLst/>
          </a:prstGeom>
          <a:noFill/>
          <a:ln/>
        </p:spPr>
        <p:txBody>
          <a:bodyPr wrap="square" rtlCol="0" anchor="t"/>
          <a:lstStyle/>
          <a:p>
            <a:pPr marL="0" indent="0" algn="l">
              <a:lnSpc>
                <a:spcPct val="125000"/>
              </a:lnSpc>
              <a:buNone/>
            </a:pPr>
            <a:r>
              <a:rPr lang="en-US" sz="2400" dirty="0">
                <a:solidFill>
                  <a:srgbClr val="1F2A24"/>
                </a:solidFill>
                <a:latin typeface="Calibri" pitchFamily="34" charset="0"/>
                <a:ea typeface="Calibri" pitchFamily="34" charset="-122"/>
                <a:cs typeface="Calibri" pitchFamily="34" charset="-120"/>
              </a:rPr>
              <a:t>Her movement pattern indicates that she tends to stay farther from the reservoir during periods of lower daytime and nighttime temperatures. But for hot (higher) temperature periods she doesn’t show any specific pattern.</a:t>
            </a:r>
            <a:endParaRPr lang="en-US" sz="2400" dirty="0"/>
          </a:p>
        </p:txBody>
      </p:sp>
      <p:sp>
        <p:nvSpPr>
          <p:cNvPr id="4" name="Shape 2"/>
          <p:cNvSpPr/>
          <p:nvPr/>
        </p:nvSpPr>
        <p:spPr>
          <a:xfrm>
            <a:off x="5943600" y="1278807"/>
            <a:ext cx="5669280" cy="5214785"/>
          </a:xfrm>
          <a:prstGeom prst="roundRect">
            <a:avLst>
              <a:gd name="adj" fmla="val 877"/>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climate_s2_1.png"/>
          <p:cNvPicPr>
            <a:picLocks noChangeAspect="1"/>
          </p:cNvPicPr>
          <p:nvPr/>
        </p:nvPicPr>
        <p:blipFill>
          <a:blip r:embed="rId3"/>
          <a:stretch>
            <a:fillRect/>
          </a:stretch>
        </p:blipFill>
        <p:spPr>
          <a:xfrm>
            <a:off x="6035040" y="1370247"/>
            <a:ext cx="5486400" cy="5031905"/>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05840"/>
            <a:ext cx="4846320" cy="5029200"/>
          </a:xfrm>
          <a:prstGeom prst="rect">
            <a:avLst/>
          </a:prstGeom>
          <a:noFill/>
          <a:ln/>
        </p:spPr>
        <p:txBody>
          <a:bodyPr wrap="square" rtlCol="0" anchor="t"/>
          <a:lstStyle/>
          <a:p>
            <a:pPr marL="0" indent="0" algn="l">
              <a:lnSpc>
                <a:spcPct val="125000"/>
              </a:lnSpc>
              <a:buNone/>
            </a:pPr>
            <a:r>
              <a:rPr lang="en-US" sz="2400" dirty="0">
                <a:solidFill>
                  <a:srgbClr val="1F2A24"/>
                </a:solidFill>
                <a:latin typeface="Calibri" pitchFamily="34" charset="0"/>
                <a:ea typeface="Calibri" pitchFamily="34" charset="-122"/>
                <a:cs typeface="Calibri" pitchFamily="34" charset="-120"/>
              </a:rPr>
              <a:t>Her locations in December 2024 and December 2025 were geographically very similar, with both occurring away from the reservoir. These observations were recorded under the same rainfall category, indicating consistency in habitat use under similar rainfall conditions in same period of year.</a:t>
            </a:r>
            <a:endParaRPr lang="en-US" sz="2400" dirty="0"/>
          </a:p>
        </p:txBody>
      </p:sp>
      <p:sp>
        <p:nvSpPr>
          <p:cNvPr id="3" name="Shape 1"/>
          <p:cNvSpPr/>
          <p:nvPr/>
        </p:nvSpPr>
        <p:spPr>
          <a:xfrm>
            <a:off x="5590012" y="731520"/>
            <a:ext cx="6010697" cy="5394960"/>
          </a:xfrm>
          <a:prstGeom prst="roundRect">
            <a:avLst>
              <a:gd name="adj" fmla="val 847"/>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4" name="Image 0" descr="/home/claude/work/assets2/climate_s3_1.png"/>
          <p:cNvPicPr>
            <a:picLocks noChangeAspect="1"/>
          </p:cNvPicPr>
          <p:nvPr/>
        </p:nvPicPr>
        <p:blipFill>
          <a:blip r:embed="rId3"/>
          <a:stretch>
            <a:fillRect/>
          </a:stretch>
        </p:blipFill>
        <p:spPr>
          <a:xfrm>
            <a:off x="5681452" y="822960"/>
            <a:ext cx="5827817" cy="5212080"/>
          </a:xfrm>
          <a:prstGeom prst="rect">
            <a:avLst/>
          </a:prstGeom>
        </p:spPr>
      </p:pic>
      <p:sp>
        <p:nvSpPr>
          <p:cNvPr id="5" name="Text 2"/>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6" name="Text 3"/>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68580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Comparison of Daytime and Nighttime Locations</a:t>
            </a:r>
            <a:endParaRPr lang="en-US" sz="2600" dirty="0"/>
          </a:p>
        </p:txBody>
      </p:sp>
      <p:sp>
        <p:nvSpPr>
          <p:cNvPr id="3" name="Text 1"/>
          <p:cNvSpPr/>
          <p:nvPr/>
        </p:nvSpPr>
        <p:spPr>
          <a:xfrm>
            <a:off x="640080" y="1143000"/>
            <a:ext cx="10881360" cy="1005840"/>
          </a:xfrm>
          <a:prstGeom prst="rect">
            <a:avLst/>
          </a:prstGeom>
          <a:noFill/>
          <a:ln/>
        </p:spPr>
        <p:txBody>
          <a:bodyPr wrap="square" rtlCol="0" anchor="t"/>
          <a:lstStyle/>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Day and night GPS points overlap considerably, indicating stable home ranges rather than different day/night territories. Although elephants appear to use areas slightly further into the reservoir during the daytime than at night.</a:t>
            </a:r>
            <a:endParaRPr lang="en-US" dirty="0"/>
          </a:p>
        </p:txBody>
      </p:sp>
      <p:pic>
        <p:nvPicPr>
          <p:cNvPr id="4" name="Image 0" descr="/home/claude/work/assets2/climate_s4_1.png"/>
          <p:cNvPicPr>
            <a:picLocks noChangeAspect="1"/>
          </p:cNvPicPr>
          <p:nvPr/>
        </p:nvPicPr>
        <p:blipFill>
          <a:blip r:embed="rId3"/>
          <a:stretch>
            <a:fillRect/>
          </a:stretch>
        </p:blipFill>
        <p:spPr>
          <a:xfrm>
            <a:off x="742055" y="2286000"/>
            <a:ext cx="2365513" cy="3657600"/>
          </a:xfrm>
          <a:prstGeom prst="rect">
            <a:avLst/>
          </a:prstGeom>
        </p:spPr>
      </p:pic>
      <p:sp>
        <p:nvSpPr>
          <p:cNvPr id="5" name="Text 2"/>
          <p:cNvSpPr/>
          <p:nvPr/>
        </p:nvSpPr>
        <p:spPr>
          <a:xfrm>
            <a:off x="640080" y="5998464"/>
            <a:ext cx="256946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Gothami</a:t>
            </a:r>
            <a:endParaRPr lang="en-US" sz="1100" dirty="0"/>
          </a:p>
        </p:txBody>
      </p:sp>
      <p:pic>
        <p:nvPicPr>
          <p:cNvPr id="6" name="Image 1" descr="/home/claude/work/assets2/climate_s4_2.png"/>
          <p:cNvPicPr>
            <a:picLocks noChangeAspect="1"/>
          </p:cNvPicPr>
          <p:nvPr/>
        </p:nvPicPr>
        <p:blipFill>
          <a:blip r:embed="rId4"/>
          <a:stretch>
            <a:fillRect/>
          </a:stretch>
        </p:blipFill>
        <p:spPr>
          <a:xfrm>
            <a:off x="3441885" y="2286000"/>
            <a:ext cx="2507119" cy="3657600"/>
          </a:xfrm>
          <a:prstGeom prst="rect">
            <a:avLst/>
          </a:prstGeom>
        </p:spPr>
      </p:pic>
      <p:sp>
        <p:nvSpPr>
          <p:cNvPr id="7" name="Text 3"/>
          <p:cNvSpPr/>
          <p:nvPr/>
        </p:nvSpPr>
        <p:spPr>
          <a:xfrm>
            <a:off x="3410712" y="5998464"/>
            <a:ext cx="256946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Female_1</a:t>
            </a:r>
            <a:endParaRPr lang="en-US" sz="1100" dirty="0"/>
          </a:p>
        </p:txBody>
      </p:sp>
      <p:pic>
        <p:nvPicPr>
          <p:cNvPr id="8" name="Image 2" descr="/home/claude/work/assets2/climate_s4_3.png"/>
          <p:cNvPicPr>
            <a:picLocks noChangeAspect="1"/>
          </p:cNvPicPr>
          <p:nvPr/>
        </p:nvPicPr>
        <p:blipFill>
          <a:blip r:embed="rId5"/>
          <a:stretch>
            <a:fillRect/>
          </a:stretch>
        </p:blipFill>
        <p:spPr>
          <a:xfrm>
            <a:off x="6181344" y="2302827"/>
            <a:ext cx="2569464" cy="3623945"/>
          </a:xfrm>
          <a:prstGeom prst="rect">
            <a:avLst/>
          </a:prstGeom>
        </p:spPr>
      </p:pic>
      <p:sp>
        <p:nvSpPr>
          <p:cNvPr id="9" name="Text 4"/>
          <p:cNvSpPr/>
          <p:nvPr/>
        </p:nvSpPr>
        <p:spPr>
          <a:xfrm>
            <a:off x="6181344" y="5998464"/>
            <a:ext cx="256946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Recollared_Female</a:t>
            </a:r>
            <a:endParaRPr lang="en-US" sz="1100" dirty="0"/>
          </a:p>
        </p:txBody>
      </p:sp>
      <p:pic>
        <p:nvPicPr>
          <p:cNvPr id="10" name="Image 3" descr="/home/claude/work/assets2/climate_s4_4.png"/>
          <p:cNvPicPr>
            <a:picLocks noChangeAspect="1"/>
          </p:cNvPicPr>
          <p:nvPr/>
        </p:nvPicPr>
        <p:blipFill>
          <a:blip r:embed="rId6"/>
          <a:stretch>
            <a:fillRect/>
          </a:stretch>
        </p:blipFill>
        <p:spPr>
          <a:xfrm>
            <a:off x="8951976" y="2447382"/>
            <a:ext cx="2569464" cy="3334836"/>
          </a:xfrm>
          <a:prstGeom prst="rect">
            <a:avLst/>
          </a:prstGeom>
        </p:spPr>
      </p:pic>
      <p:sp>
        <p:nvSpPr>
          <p:cNvPr id="11" name="Text 5"/>
          <p:cNvSpPr/>
          <p:nvPr/>
        </p:nvSpPr>
        <p:spPr>
          <a:xfrm>
            <a:off x="8951976" y="5998464"/>
            <a:ext cx="256946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Tara Devi</a:t>
            </a:r>
            <a:endParaRPr lang="en-US" sz="1100" dirty="0"/>
          </a:p>
        </p:txBody>
      </p:sp>
      <p:sp>
        <p:nvSpPr>
          <p:cNvPr id="12" name="Text 6"/>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3" name="Text 7"/>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10881360" cy="685800"/>
          </a:xfrm>
          <a:prstGeom prst="rect">
            <a:avLst/>
          </a:prstGeom>
          <a:noFill/>
          <a:ln/>
        </p:spPr>
        <p:txBody>
          <a:bodyPr wrap="square" rtlCol="0" anchor="ctr"/>
          <a:lstStyle/>
          <a:p>
            <a:pPr marL="0" indent="0">
              <a:buNone/>
            </a:pPr>
            <a:r>
              <a:rPr lang="en-US" sz="2500" b="1" dirty="0">
                <a:solidFill>
                  <a:srgbClr val="1B4332"/>
                </a:solidFill>
                <a:latin typeface="Georgia" pitchFamily="34" charset="0"/>
                <a:ea typeface="Georgia" pitchFamily="34" charset="-122"/>
                <a:cs typeface="Georgia" pitchFamily="34" charset="-120"/>
              </a:rPr>
              <a:t>Comparison of Hot and Cool Season Locations</a:t>
            </a:r>
            <a:endParaRPr lang="en-US" sz="2500" dirty="0"/>
          </a:p>
        </p:txBody>
      </p:sp>
      <p:sp>
        <p:nvSpPr>
          <p:cNvPr id="3" name="Text 1"/>
          <p:cNvSpPr/>
          <p:nvPr/>
        </p:nvSpPr>
        <p:spPr>
          <a:xfrm>
            <a:off x="548640" y="1051560"/>
            <a:ext cx="11064240" cy="1600200"/>
          </a:xfrm>
          <a:prstGeom prst="rect">
            <a:avLst/>
          </a:prstGeom>
          <a:noFill/>
          <a:ln/>
        </p:spPr>
        <p:txBody>
          <a:bodyPr wrap="square" rtlCol="0" anchor="t"/>
          <a:lstStyle/>
          <a:p>
            <a:pPr marL="0" indent="0" algn="l">
              <a:lnSpc>
                <a:spcPct val="125000"/>
              </a:lnSpc>
              <a:buNone/>
            </a:pPr>
            <a:r>
              <a:rPr lang="en-US" sz="1600" dirty="0">
                <a:solidFill>
                  <a:srgbClr val="1F2A24"/>
                </a:solidFill>
                <a:latin typeface="Calibri" pitchFamily="34" charset="0"/>
                <a:ea typeface="Calibri" pitchFamily="34" charset="-122"/>
                <a:cs typeface="Calibri" pitchFamily="34" charset="-120"/>
              </a:rPr>
              <a:t>Some elephants, such as Gothami and Dewmi, occupied more northerly areas during the cool season, indicating that their locations were relatively more southerly during the hot season. The Recollared Female showed a distinct seasonal pattern in 2024 and 2025, with their cool-season locations shifting away from the reservoir towards the Trincomalee railway line. However, this pattern was not evident in 2026. During the hot season of both 2025 and 2026, her GPS locations appeared to be more frequently concentrated near a paddy field.</a:t>
            </a:r>
            <a:endParaRPr lang="en-US" sz="1600" dirty="0"/>
          </a:p>
        </p:txBody>
      </p:sp>
      <p:pic>
        <p:nvPicPr>
          <p:cNvPr id="4" name="Image 0" descr="/home/claude/work/assets2/climate_s5_1.png"/>
          <p:cNvPicPr>
            <a:picLocks noChangeAspect="1"/>
          </p:cNvPicPr>
          <p:nvPr/>
        </p:nvPicPr>
        <p:blipFill>
          <a:blip r:embed="rId3"/>
          <a:stretch>
            <a:fillRect/>
          </a:stretch>
        </p:blipFill>
        <p:spPr>
          <a:xfrm>
            <a:off x="499172" y="2743200"/>
            <a:ext cx="2013690" cy="3291840"/>
          </a:xfrm>
          <a:prstGeom prst="rect">
            <a:avLst/>
          </a:prstGeom>
        </p:spPr>
      </p:pic>
      <p:sp>
        <p:nvSpPr>
          <p:cNvPr id="5" name="Text 2"/>
          <p:cNvSpPr/>
          <p:nvPr/>
        </p:nvSpPr>
        <p:spPr>
          <a:xfrm>
            <a:off x="457200" y="6089904"/>
            <a:ext cx="209763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Gothami, 2024</a:t>
            </a:r>
            <a:endParaRPr lang="en-US" sz="1100" dirty="0"/>
          </a:p>
        </p:txBody>
      </p:sp>
      <p:pic>
        <p:nvPicPr>
          <p:cNvPr id="6" name="Image 1" descr="/home/claude/work/assets2/climate_s5_2.png"/>
          <p:cNvPicPr>
            <a:picLocks noChangeAspect="1"/>
          </p:cNvPicPr>
          <p:nvPr/>
        </p:nvPicPr>
        <p:blipFill>
          <a:blip r:embed="rId4"/>
          <a:stretch>
            <a:fillRect/>
          </a:stretch>
        </p:blipFill>
        <p:spPr>
          <a:xfrm>
            <a:off x="2756002" y="2775556"/>
            <a:ext cx="2097634" cy="3227129"/>
          </a:xfrm>
          <a:prstGeom prst="rect">
            <a:avLst/>
          </a:prstGeom>
        </p:spPr>
      </p:pic>
      <p:sp>
        <p:nvSpPr>
          <p:cNvPr id="7" name="Text 3"/>
          <p:cNvSpPr/>
          <p:nvPr/>
        </p:nvSpPr>
        <p:spPr>
          <a:xfrm>
            <a:off x="2756002" y="6089904"/>
            <a:ext cx="209763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Dewmi, 2025</a:t>
            </a:r>
            <a:endParaRPr lang="en-US" sz="1100" dirty="0"/>
          </a:p>
        </p:txBody>
      </p:sp>
      <p:pic>
        <p:nvPicPr>
          <p:cNvPr id="8" name="Image 2" descr="/home/claude/work/assets2/climate_s5_3.png"/>
          <p:cNvPicPr>
            <a:picLocks noChangeAspect="1"/>
          </p:cNvPicPr>
          <p:nvPr/>
        </p:nvPicPr>
        <p:blipFill>
          <a:blip r:embed="rId5"/>
          <a:stretch>
            <a:fillRect/>
          </a:stretch>
        </p:blipFill>
        <p:spPr>
          <a:xfrm>
            <a:off x="5054803" y="2788141"/>
            <a:ext cx="2097634" cy="3201959"/>
          </a:xfrm>
          <a:prstGeom prst="rect">
            <a:avLst/>
          </a:prstGeom>
        </p:spPr>
      </p:pic>
      <p:sp>
        <p:nvSpPr>
          <p:cNvPr id="9" name="Text 4"/>
          <p:cNvSpPr/>
          <p:nvPr/>
        </p:nvSpPr>
        <p:spPr>
          <a:xfrm>
            <a:off x="5054803" y="6089904"/>
            <a:ext cx="209763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 female, 2024</a:t>
            </a:r>
            <a:endParaRPr lang="en-US" sz="1100" dirty="0"/>
          </a:p>
        </p:txBody>
      </p:sp>
      <p:pic>
        <p:nvPicPr>
          <p:cNvPr id="10" name="Image 3" descr="/home/claude/work/assets2/climate_s5_4.png"/>
          <p:cNvPicPr>
            <a:picLocks noChangeAspect="1"/>
          </p:cNvPicPr>
          <p:nvPr/>
        </p:nvPicPr>
        <p:blipFill>
          <a:blip r:embed="rId6"/>
          <a:stretch>
            <a:fillRect/>
          </a:stretch>
        </p:blipFill>
        <p:spPr>
          <a:xfrm>
            <a:off x="7364318" y="2743200"/>
            <a:ext cx="2076206" cy="3291840"/>
          </a:xfrm>
          <a:prstGeom prst="rect">
            <a:avLst/>
          </a:prstGeom>
        </p:spPr>
      </p:pic>
      <p:sp>
        <p:nvSpPr>
          <p:cNvPr id="11" name="Text 5"/>
          <p:cNvSpPr/>
          <p:nvPr/>
        </p:nvSpPr>
        <p:spPr>
          <a:xfrm>
            <a:off x="7353605" y="6089904"/>
            <a:ext cx="209763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 female, 2025</a:t>
            </a:r>
            <a:endParaRPr lang="en-US" sz="1100" dirty="0"/>
          </a:p>
        </p:txBody>
      </p:sp>
      <p:pic>
        <p:nvPicPr>
          <p:cNvPr id="12" name="Image 4" descr="/home/claude/work/assets2/climate_s5_5.png"/>
          <p:cNvPicPr>
            <a:picLocks noChangeAspect="1"/>
          </p:cNvPicPr>
          <p:nvPr/>
        </p:nvPicPr>
        <p:blipFill>
          <a:blip r:embed="rId7"/>
          <a:stretch>
            <a:fillRect/>
          </a:stretch>
        </p:blipFill>
        <p:spPr>
          <a:xfrm>
            <a:off x="9680032" y="2743200"/>
            <a:ext cx="2042382" cy="3291840"/>
          </a:xfrm>
          <a:prstGeom prst="rect">
            <a:avLst/>
          </a:prstGeom>
        </p:spPr>
      </p:pic>
      <p:sp>
        <p:nvSpPr>
          <p:cNvPr id="13" name="Text 6"/>
          <p:cNvSpPr/>
          <p:nvPr/>
        </p:nvSpPr>
        <p:spPr>
          <a:xfrm>
            <a:off x="9652406" y="6089904"/>
            <a:ext cx="2097634"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 female, 2026</a:t>
            </a:r>
            <a:endParaRPr lang="en-US" sz="1100" dirty="0"/>
          </a:p>
        </p:txBody>
      </p:sp>
      <p:sp>
        <p:nvSpPr>
          <p:cNvPr id="14" name="Text 7"/>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5" name="Text 8"/>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1371600"/>
          </a:xfrm>
          <a:prstGeom prst="rect">
            <a:avLst/>
          </a:prstGeom>
          <a:noFill/>
          <a:ln/>
        </p:spPr>
        <p:txBody>
          <a:bodyPr wrap="square" rtlCol="0" anchor="t"/>
          <a:lstStyle/>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Since the dataset was imbalanced across seasons, with most elephants tracked only during either the hot or the cool season, seasonal comparisons are limited. Although a few individuals appear to shift their locations between hot and cool periods, the evidence is insufficient to draw strong conclusions about seasonal movement.</a:t>
            </a:r>
            <a:endParaRPr lang="en-US" sz="2000" dirty="0"/>
          </a:p>
        </p:txBody>
      </p:sp>
      <p:pic>
        <p:nvPicPr>
          <p:cNvPr id="3" name="Image 0" descr="/home/claude/work/assets2/climate_s6_1.png"/>
          <p:cNvPicPr>
            <a:picLocks noChangeAspect="1"/>
          </p:cNvPicPr>
          <p:nvPr/>
        </p:nvPicPr>
        <p:blipFill>
          <a:blip r:embed="rId3"/>
          <a:stretch>
            <a:fillRect/>
          </a:stretch>
        </p:blipFill>
        <p:spPr>
          <a:xfrm>
            <a:off x="1838363" y="2286000"/>
            <a:ext cx="2437563" cy="3749040"/>
          </a:xfrm>
          <a:prstGeom prst="rect">
            <a:avLst/>
          </a:prstGeom>
        </p:spPr>
      </p:pic>
      <p:sp>
        <p:nvSpPr>
          <p:cNvPr id="4" name="Text 1"/>
          <p:cNvSpPr/>
          <p:nvPr/>
        </p:nvSpPr>
        <p:spPr>
          <a:xfrm>
            <a:off x="1645920" y="6089904"/>
            <a:ext cx="282244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Dona</a:t>
            </a:r>
            <a:endParaRPr lang="en-US" sz="1100" dirty="0"/>
          </a:p>
        </p:txBody>
      </p:sp>
      <p:pic>
        <p:nvPicPr>
          <p:cNvPr id="5" name="Image 1" descr="/home/claude/work/assets2/climate_s6_2.png"/>
          <p:cNvPicPr>
            <a:picLocks noChangeAspect="1"/>
          </p:cNvPicPr>
          <p:nvPr/>
        </p:nvPicPr>
        <p:blipFill>
          <a:blip r:embed="rId4"/>
          <a:stretch>
            <a:fillRect/>
          </a:stretch>
        </p:blipFill>
        <p:spPr>
          <a:xfrm>
            <a:off x="5269041" y="2286000"/>
            <a:ext cx="1623438" cy="3749040"/>
          </a:xfrm>
          <a:prstGeom prst="rect">
            <a:avLst/>
          </a:prstGeom>
        </p:spPr>
      </p:pic>
      <p:sp>
        <p:nvSpPr>
          <p:cNvPr id="6" name="Text 2"/>
          <p:cNvSpPr/>
          <p:nvPr/>
        </p:nvSpPr>
        <p:spPr>
          <a:xfrm>
            <a:off x="4669536" y="6089904"/>
            <a:ext cx="282244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Female 1, 2025</a:t>
            </a:r>
            <a:endParaRPr lang="en-US" sz="1100" dirty="0"/>
          </a:p>
        </p:txBody>
      </p:sp>
      <p:pic>
        <p:nvPicPr>
          <p:cNvPr id="7" name="Image 2" descr="/home/claude/work/assets2/climate_s6_3.png"/>
          <p:cNvPicPr>
            <a:picLocks noChangeAspect="1"/>
          </p:cNvPicPr>
          <p:nvPr/>
        </p:nvPicPr>
        <p:blipFill>
          <a:blip r:embed="rId5"/>
          <a:stretch>
            <a:fillRect/>
          </a:stretch>
        </p:blipFill>
        <p:spPr>
          <a:xfrm>
            <a:off x="8122647" y="2286000"/>
            <a:ext cx="1963457" cy="3749040"/>
          </a:xfrm>
          <a:prstGeom prst="rect">
            <a:avLst/>
          </a:prstGeom>
        </p:spPr>
      </p:pic>
      <p:sp>
        <p:nvSpPr>
          <p:cNvPr id="8" name="Text 3"/>
          <p:cNvSpPr/>
          <p:nvPr/>
        </p:nvSpPr>
        <p:spPr>
          <a:xfrm>
            <a:off x="7693152" y="6089904"/>
            <a:ext cx="282244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Kasun</a:t>
            </a:r>
            <a:endParaRPr lang="en-US" sz="1100" dirty="0"/>
          </a:p>
        </p:txBody>
      </p:sp>
      <p:sp>
        <p:nvSpPr>
          <p:cNvPr id="9" name="Text 4"/>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0" name="Text 5"/>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10881360" cy="685800"/>
          </a:xfrm>
          <a:prstGeom prst="rect">
            <a:avLst/>
          </a:prstGeom>
          <a:noFill/>
          <a:ln/>
        </p:spPr>
        <p:txBody>
          <a:bodyPr wrap="square" rtlCol="0" anchor="ctr"/>
          <a:lstStyle/>
          <a:p>
            <a:pPr marL="0" indent="0">
              <a:buNone/>
            </a:pPr>
            <a:r>
              <a:rPr lang="en-US" sz="2500" b="1" dirty="0">
                <a:solidFill>
                  <a:srgbClr val="1B4332"/>
                </a:solidFill>
                <a:latin typeface="Georgia" pitchFamily="34" charset="0"/>
                <a:ea typeface="Georgia" pitchFamily="34" charset="-122"/>
                <a:cs typeface="Georgia" pitchFamily="34" charset="-120"/>
              </a:rPr>
              <a:t>Comparison of Heavy and Low Rainfall Locations</a:t>
            </a:r>
            <a:endParaRPr lang="en-US" sz="2500" dirty="0"/>
          </a:p>
        </p:txBody>
      </p:sp>
      <p:sp>
        <p:nvSpPr>
          <p:cNvPr id="3" name="Text 1"/>
          <p:cNvSpPr/>
          <p:nvPr/>
        </p:nvSpPr>
        <p:spPr>
          <a:xfrm>
            <a:off x="640080" y="1051560"/>
            <a:ext cx="10881360" cy="1600200"/>
          </a:xfrm>
          <a:prstGeom prst="rect">
            <a:avLst/>
          </a:prstGeom>
          <a:noFill/>
          <a:ln/>
        </p:spPr>
        <p:txBody>
          <a:bodyPr wrap="square" rtlCol="0" anchor="t"/>
          <a:lstStyle/>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Most elephants occupied similar areas during both heavy and low rainfall periods.</a:t>
            </a:r>
            <a:endParaRPr lang="en-US" sz="2000" dirty="0"/>
          </a:p>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Gothami showed a slight northward shift under low rainfall conditions compared with heavy rainfall periods</a:t>
            </a:r>
            <a:endParaRPr lang="en-US" sz="2000" dirty="0"/>
          </a:p>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Some individuals were only tracked in one rainfall condition, so comparisons were limited.</a:t>
            </a:r>
            <a:endParaRPr lang="en-US" sz="2000" dirty="0"/>
          </a:p>
        </p:txBody>
      </p:sp>
      <p:pic>
        <p:nvPicPr>
          <p:cNvPr id="4" name="Image 0" descr="/home/claude/work/assets2/climate_s7_1.png"/>
          <p:cNvPicPr>
            <a:picLocks noChangeAspect="1"/>
          </p:cNvPicPr>
          <p:nvPr/>
        </p:nvPicPr>
        <p:blipFill>
          <a:blip r:embed="rId3"/>
          <a:stretch>
            <a:fillRect/>
          </a:stretch>
        </p:blipFill>
        <p:spPr>
          <a:xfrm>
            <a:off x="2097707" y="2697480"/>
            <a:ext cx="2162715" cy="3429000"/>
          </a:xfrm>
          <a:prstGeom prst="rect">
            <a:avLst/>
          </a:prstGeom>
        </p:spPr>
      </p:pic>
      <p:sp>
        <p:nvSpPr>
          <p:cNvPr id="5" name="Text 2"/>
          <p:cNvSpPr/>
          <p:nvPr/>
        </p:nvSpPr>
        <p:spPr>
          <a:xfrm>
            <a:off x="1828800" y="6181344"/>
            <a:ext cx="270052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Gothami</a:t>
            </a:r>
            <a:endParaRPr lang="en-US" sz="1100" dirty="0"/>
          </a:p>
        </p:txBody>
      </p:sp>
      <p:pic>
        <p:nvPicPr>
          <p:cNvPr id="6" name="Image 1" descr="/home/claude/work/assets2/climate_s7_2.png"/>
          <p:cNvPicPr>
            <a:picLocks noChangeAspect="1"/>
          </p:cNvPicPr>
          <p:nvPr/>
        </p:nvPicPr>
        <p:blipFill>
          <a:blip r:embed="rId4"/>
          <a:stretch>
            <a:fillRect/>
          </a:stretch>
        </p:blipFill>
        <p:spPr>
          <a:xfrm>
            <a:off x="4942984" y="2697480"/>
            <a:ext cx="2275552" cy="3429000"/>
          </a:xfrm>
          <a:prstGeom prst="rect">
            <a:avLst/>
          </a:prstGeom>
        </p:spPr>
      </p:pic>
      <p:sp>
        <p:nvSpPr>
          <p:cNvPr id="7" name="Text 3"/>
          <p:cNvSpPr/>
          <p:nvPr/>
        </p:nvSpPr>
        <p:spPr>
          <a:xfrm>
            <a:off x="4730496" y="6181344"/>
            <a:ext cx="270052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Female_1</a:t>
            </a:r>
            <a:endParaRPr lang="en-US" sz="1100" dirty="0"/>
          </a:p>
        </p:txBody>
      </p:sp>
      <p:pic>
        <p:nvPicPr>
          <p:cNvPr id="8" name="Image 2" descr="/home/claude/work/assets2/climate_s7_3.png"/>
          <p:cNvPicPr>
            <a:picLocks noChangeAspect="1"/>
          </p:cNvPicPr>
          <p:nvPr/>
        </p:nvPicPr>
        <p:blipFill>
          <a:blip r:embed="rId5"/>
          <a:stretch>
            <a:fillRect/>
          </a:stretch>
        </p:blipFill>
        <p:spPr>
          <a:xfrm>
            <a:off x="7866770" y="2697480"/>
            <a:ext cx="2231371" cy="3429000"/>
          </a:xfrm>
          <a:prstGeom prst="rect">
            <a:avLst/>
          </a:prstGeom>
        </p:spPr>
      </p:pic>
      <p:sp>
        <p:nvSpPr>
          <p:cNvPr id="9" name="Text 4"/>
          <p:cNvSpPr/>
          <p:nvPr/>
        </p:nvSpPr>
        <p:spPr>
          <a:xfrm>
            <a:off x="7632192" y="6181344"/>
            <a:ext cx="2700528"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Recollared_Female</a:t>
            </a:r>
            <a:endParaRPr lang="en-US" sz="1100" dirty="0"/>
          </a:p>
        </p:txBody>
      </p:sp>
      <p:sp>
        <p:nvSpPr>
          <p:cNvPr id="10" name="Text 5"/>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6"/>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Vegetation Dynamics and Elephant Movement Patterns</a:t>
            </a:r>
            <a:endParaRPr lang="en-US" sz="2400" dirty="0"/>
          </a:p>
        </p:txBody>
      </p:sp>
      <p:sp>
        <p:nvSpPr>
          <p:cNvPr id="3" name="Text 1"/>
          <p:cNvSpPr/>
          <p:nvPr/>
        </p:nvSpPr>
        <p:spPr>
          <a:xfrm>
            <a:off x="640080" y="1417320"/>
            <a:ext cx="10881360" cy="1600200"/>
          </a:xfrm>
          <a:prstGeom prst="rect">
            <a:avLst/>
          </a:prstGeom>
          <a:noFill/>
          <a:ln/>
        </p:spPr>
        <p:txBody>
          <a:bodyPr wrap="square" rtlCol="0" anchor="t"/>
          <a:lstStyle/>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Vegetation changed slightly across the three years.</a:t>
            </a:r>
            <a:endParaRPr lang="en-US" dirty="0"/>
          </a:p>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2026 had the highest canopy cover, but also the highest proportion of non-vegetated land. This is the key vegetation signal that connects to elephant behavior, but 2026 data is only available for recollared female.</a:t>
            </a:r>
            <a:endParaRPr lang="en-US" dirty="0"/>
          </a:p>
        </p:txBody>
      </p:sp>
      <p:sp>
        <p:nvSpPr>
          <p:cNvPr id="4" name="Shape 2"/>
          <p:cNvSpPr/>
          <p:nvPr/>
        </p:nvSpPr>
        <p:spPr>
          <a:xfrm>
            <a:off x="2837830" y="2926080"/>
            <a:ext cx="6485860" cy="3749040"/>
          </a:xfrm>
          <a:prstGeom prst="roundRect">
            <a:avLst>
              <a:gd name="adj" fmla="val 1220"/>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climate_s8_1.png"/>
          <p:cNvPicPr>
            <a:picLocks noChangeAspect="1"/>
          </p:cNvPicPr>
          <p:nvPr/>
        </p:nvPicPr>
        <p:blipFill>
          <a:blip r:embed="rId3"/>
          <a:stretch>
            <a:fillRect/>
          </a:stretch>
        </p:blipFill>
        <p:spPr>
          <a:xfrm>
            <a:off x="2929270" y="3017520"/>
            <a:ext cx="6302980" cy="3566160"/>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48640"/>
            <a:ext cx="10881360" cy="1280160"/>
          </a:xfrm>
          <a:prstGeom prst="rect">
            <a:avLst/>
          </a:prstGeom>
          <a:noFill/>
          <a:ln/>
        </p:spPr>
        <p:txBody>
          <a:bodyPr wrap="square" rtlCol="0" anchor="t"/>
          <a:lstStyle/>
          <a:p>
            <a:pPr marL="0" indent="0" algn="l">
              <a:lnSpc>
                <a:spcPct val="125000"/>
              </a:lnSpc>
              <a:buNone/>
            </a:pPr>
            <a:r>
              <a:rPr lang="en-US" sz="2400" dirty="0">
                <a:solidFill>
                  <a:srgbClr val="1F2A24"/>
                </a:solidFill>
                <a:latin typeface="Calibri" pitchFamily="34" charset="0"/>
                <a:ea typeface="Calibri" pitchFamily="34" charset="-122"/>
                <a:cs typeface="Calibri" pitchFamily="34" charset="-120"/>
              </a:rPr>
              <a:t>Across 2024 and 2025, most elephants exhibited stable home ranges, indicating strong site fidelity. However, the Recollared Female showed a noticeable shift away from the reservoir area in 2026 compared with 2024 and 2025.</a:t>
            </a:r>
            <a:endParaRPr lang="en-US" sz="2400" dirty="0"/>
          </a:p>
        </p:txBody>
      </p:sp>
      <p:pic>
        <p:nvPicPr>
          <p:cNvPr id="3" name="Image 0" descr="/home/claude/work/assets2/climate_s9_1.png"/>
          <p:cNvPicPr>
            <a:picLocks noChangeAspect="1"/>
          </p:cNvPicPr>
          <p:nvPr/>
        </p:nvPicPr>
        <p:blipFill>
          <a:blip r:embed="rId3"/>
          <a:stretch>
            <a:fillRect/>
          </a:stretch>
        </p:blipFill>
        <p:spPr>
          <a:xfrm>
            <a:off x="3383280" y="2148840"/>
            <a:ext cx="2596896" cy="3840480"/>
          </a:xfrm>
          <a:prstGeom prst="rect">
            <a:avLst/>
          </a:prstGeom>
        </p:spPr>
      </p:pic>
      <p:sp>
        <p:nvSpPr>
          <p:cNvPr id="4" name="Text 1"/>
          <p:cNvSpPr/>
          <p:nvPr/>
        </p:nvSpPr>
        <p:spPr>
          <a:xfrm>
            <a:off x="3383280" y="6181344"/>
            <a:ext cx="2596896"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Gothami</a:t>
            </a:r>
            <a:endParaRPr lang="en-US" sz="1100" dirty="0"/>
          </a:p>
        </p:txBody>
      </p:sp>
      <p:pic>
        <p:nvPicPr>
          <p:cNvPr id="5" name="Image 1" descr="/home/claude/work/assets2/climate_s9_2.png"/>
          <p:cNvPicPr>
            <a:picLocks noChangeAspect="1"/>
          </p:cNvPicPr>
          <p:nvPr/>
        </p:nvPicPr>
        <p:blipFill>
          <a:blip r:embed="rId4"/>
          <a:stretch>
            <a:fillRect/>
          </a:stretch>
        </p:blipFill>
        <p:spPr>
          <a:xfrm>
            <a:off x="6181344" y="2040255"/>
            <a:ext cx="2596896" cy="4057650"/>
          </a:xfrm>
          <a:prstGeom prst="rect">
            <a:avLst/>
          </a:prstGeom>
        </p:spPr>
      </p:pic>
      <p:sp>
        <p:nvSpPr>
          <p:cNvPr id="6" name="Text 2"/>
          <p:cNvSpPr/>
          <p:nvPr/>
        </p:nvSpPr>
        <p:spPr>
          <a:xfrm>
            <a:off x="6181344" y="6181344"/>
            <a:ext cx="2596896" cy="292608"/>
          </a:xfrm>
          <a:prstGeom prst="rect">
            <a:avLst/>
          </a:prstGeom>
          <a:noFill/>
          <a:ln/>
        </p:spPr>
        <p:txBody>
          <a:bodyPr wrap="square"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Recollared Female</a:t>
            </a:r>
            <a:endParaRPr lang="en-US" sz="1100" dirty="0"/>
          </a:p>
        </p:txBody>
      </p:sp>
      <p:sp>
        <p:nvSpPr>
          <p:cNvPr id="7"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8"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10881360" cy="68580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Monthly Home Range variation</a:t>
            </a:r>
            <a:endParaRPr lang="en-US" sz="2600" dirty="0"/>
          </a:p>
        </p:txBody>
      </p:sp>
      <p:sp>
        <p:nvSpPr>
          <p:cNvPr id="3" name="Text 1"/>
          <p:cNvSpPr/>
          <p:nvPr/>
        </p:nvSpPr>
        <p:spPr>
          <a:xfrm>
            <a:off x="502920" y="1005840"/>
            <a:ext cx="11247120" cy="1920240"/>
          </a:xfrm>
          <a:prstGeom prst="rect">
            <a:avLst/>
          </a:prstGeom>
          <a:noFill/>
          <a:ln/>
        </p:spPr>
        <p:txBody>
          <a:bodyPr wrap="square" rtlCol="0" anchor="t"/>
          <a:lstStyle/>
          <a:p>
            <a:pPr marL="0" indent="0" algn="l">
              <a:lnSpc>
                <a:spcPct val="125000"/>
              </a:lnSpc>
              <a:buNone/>
            </a:pPr>
            <a:r>
              <a:rPr lang="en-US" sz="1600" dirty="0">
                <a:solidFill>
                  <a:srgbClr val="1F2A24"/>
                </a:solidFill>
                <a:latin typeface="Calibri" pitchFamily="34" charset="0"/>
                <a:ea typeface="Calibri" pitchFamily="34" charset="-122"/>
                <a:cs typeface="Calibri" pitchFamily="34" charset="-120"/>
              </a:rPr>
              <a:t>The Recollared Female had the most complete monthly data and showed the widest monthly home range (4.27 km) in April 2025, at the beginning of the hot season, suggesting increased movement to locate food and water resources as environmental conditions became drier.</a:t>
            </a:r>
            <a:endParaRPr lang="en-US" sz="1600" dirty="0"/>
          </a:p>
          <a:p>
            <a:pPr marL="0" indent="0" algn="l">
              <a:lnSpc>
                <a:spcPct val="125000"/>
              </a:lnSpc>
              <a:buNone/>
            </a:pPr>
            <a:r>
              <a:rPr lang="en-US" sz="1600" dirty="0">
                <a:solidFill>
                  <a:srgbClr val="1F2A24"/>
                </a:solidFill>
                <a:latin typeface="Calibri" pitchFamily="34" charset="0"/>
                <a:ea typeface="Calibri" pitchFamily="34" charset="-122"/>
                <a:cs typeface="Calibri" pitchFamily="34" charset="-120"/>
              </a:rPr>
              <a:t>For the remaining elephants, monthly data were concentrated mainly between June and December. Within this period, several elephants exhibited larger home ranges around October–November.</a:t>
            </a:r>
            <a:endParaRPr lang="en-US" sz="1600" dirty="0"/>
          </a:p>
        </p:txBody>
      </p:sp>
      <p:sp>
        <p:nvSpPr>
          <p:cNvPr id="4" name="Shape 2"/>
          <p:cNvSpPr/>
          <p:nvPr/>
        </p:nvSpPr>
        <p:spPr>
          <a:xfrm>
            <a:off x="3273829" y="2880360"/>
            <a:ext cx="5613862" cy="3840480"/>
          </a:xfrm>
          <a:prstGeom prst="roundRect">
            <a:avLst>
              <a:gd name="adj" fmla="val 1190"/>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climate_s10_1.png"/>
          <p:cNvPicPr>
            <a:picLocks noChangeAspect="1"/>
          </p:cNvPicPr>
          <p:nvPr/>
        </p:nvPicPr>
        <p:blipFill>
          <a:blip r:embed="rId3"/>
          <a:stretch>
            <a:fillRect/>
          </a:stretch>
        </p:blipFill>
        <p:spPr>
          <a:xfrm>
            <a:off x="3365269" y="2971800"/>
            <a:ext cx="5430982" cy="3657600"/>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822960"/>
          </a:xfrm>
          <a:prstGeom prst="rect">
            <a:avLst/>
          </a:prstGeom>
          <a:noFill/>
          <a:ln/>
        </p:spPr>
        <p:txBody>
          <a:bodyPr wrap="square" rtlCol="0" anchor="ctr"/>
          <a:lstStyle/>
          <a:p>
            <a:pPr marL="0" indent="0">
              <a:buNone/>
            </a:pPr>
            <a:r>
              <a:rPr lang="en-US" sz="3800" dirty="0">
                <a:solidFill>
                  <a:srgbClr val="FFFFFF"/>
                </a:solidFill>
                <a:latin typeface="Georgia" pitchFamily="34" charset="0"/>
                <a:ea typeface="Georgia" pitchFamily="34" charset="-122"/>
                <a:cs typeface="Georgia" pitchFamily="34" charset="-120"/>
              </a:rPr>
              <a:t>Anomaly Detection Methods</a:t>
            </a:r>
            <a:endParaRPr lang="en-US" sz="3800" dirty="0"/>
          </a:p>
        </p:txBody>
      </p:sp>
      <p:sp>
        <p:nvSpPr>
          <p:cNvPr id="5" name="Text 3"/>
          <p:cNvSpPr/>
          <p:nvPr/>
        </p:nvSpPr>
        <p:spPr>
          <a:xfrm>
            <a:off x="822960" y="3749040"/>
            <a:ext cx="10515600" cy="548640"/>
          </a:xfrm>
          <a:prstGeom prst="rect">
            <a:avLst/>
          </a:prstGeom>
          <a:noFill/>
          <a:ln/>
        </p:spPr>
        <p:txBody>
          <a:bodyPr wrap="square" rtlCol="0" anchor="ctr"/>
          <a:lstStyle/>
          <a:p>
            <a:pPr marL="0" indent="0">
              <a:buNone/>
            </a:pPr>
            <a:r>
              <a:rPr lang="en-US" sz="1800" dirty="0">
                <a:solidFill>
                  <a:srgbClr val="D7E9DE"/>
                </a:solidFill>
                <a:latin typeface="Calibri" pitchFamily="34" charset="0"/>
                <a:ea typeface="Calibri" pitchFamily="34" charset="-122"/>
                <a:cs typeface="Calibri" pitchFamily="34" charset="-120"/>
              </a:rPr>
              <a:t>Four ways of asking: is something wrong with this elephant?</a:t>
            </a:r>
            <a:endParaRPr lang="en-US" sz="1800" dirty="0"/>
          </a:p>
        </p:txBody>
      </p:sp>
      <p:sp>
        <p:nvSpPr>
          <p:cNvPr id="6" name="Text 4"/>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5"/>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marL="0" indent="0">
              <a:buNone/>
            </a:pPr>
            <a:r>
              <a:rPr lang="en-US" sz="3000" b="1" dirty="0">
                <a:solidFill>
                  <a:srgbClr val="1B4332"/>
                </a:solidFill>
                <a:latin typeface="Georgia" pitchFamily="34" charset="0"/>
                <a:ea typeface="Georgia" pitchFamily="34" charset="-122"/>
                <a:cs typeface="Georgia" pitchFamily="34" charset="-120"/>
              </a:rPr>
              <a:t>Movement rate</a:t>
            </a:r>
            <a:endParaRPr lang="en-US" sz="3000" dirty="0"/>
          </a:p>
        </p:txBody>
      </p:sp>
      <p:sp>
        <p:nvSpPr>
          <p:cNvPr id="3" name="Shape 1"/>
          <p:cNvSpPr/>
          <p:nvPr/>
        </p:nvSpPr>
        <p:spPr>
          <a:xfrm>
            <a:off x="640080" y="1508760"/>
            <a:ext cx="5257800" cy="2240280"/>
          </a:xfrm>
          <a:prstGeom prst="roundRect">
            <a:avLst>
              <a:gd name="adj" fmla="val 3265"/>
            </a:avLst>
          </a:prstGeom>
          <a:solidFill>
            <a:srgbClr val="EAF3EC"/>
          </a:solidFill>
          <a:ln/>
        </p:spPr>
      </p:sp>
      <p:sp>
        <p:nvSpPr>
          <p:cNvPr id="4" name="Shape 2"/>
          <p:cNvSpPr/>
          <p:nvPr/>
        </p:nvSpPr>
        <p:spPr>
          <a:xfrm>
            <a:off x="868680" y="1709928"/>
            <a:ext cx="384048" cy="384048"/>
          </a:xfrm>
          <a:prstGeom prst="ellipse">
            <a:avLst/>
          </a:prstGeom>
          <a:solidFill>
            <a:srgbClr val="2D6A4F"/>
          </a:solidFill>
          <a:ln/>
        </p:spPr>
      </p:sp>
      <p:sp>
        <p:nvSpPr>
          <p:cNvPr id="5" name="Text 3"/>
          <p:cNvSpPr/>
          <p:nvPr/>
        </p:nvSpPr>
        <p:spPr>
          <a:xfrm>
            <a:off x="868680" y="170992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463040" y="1673352"/>
            <a:ext cx="4251960" cy="50292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The idea</a:t>
            </a:r>
            <a:endParaRPr lang="en-US" sz="1600" dirty="0"/>
          </a:p>
        </p:txBody>
      </p:sp>
      <p:sp>
        <p:nvSpPr>
          <p:cNvPr id="7" name="Text 5"/>
          <p:cNvSpPr/>
          <p:nvPr/>
        </p:nvSpPr>
        <p:spPr>
          <a:xfrm>
            <a:off x="914400" y="2286000"/>
            <a:ext cx="4709160" cy="1280160"/>
          </a:xfrm>
          <a:prstGeom prst="rect">
            <a:avLst/>
          </a:prstGeom>
          <a:noFill/>
          <a:ln/>
        </p:spPr>
        <p:txBody>
          <a:bodyPr wrap="square" rtlCol="0" anchor="ctr"/>
          <a:lstStyle/>
          <a:p>
            <a:pPr marL="0" indent="0">
              <a:lnSpc>
                <a:spcPct val="118000"/>
              </a:lnSpc>
              <a:buNone/>
            </a:pPr>
            <a:r>
              <a:rPr lang="en-US" dirty="0">
                <a:solidFill>
                  <a:srgbClr val="1F2A24"/>
                </a:solidFill>
                <a:latin typeface="Calibri" pitchFamily="34" charset="0"/>
                <a:ea typeface="Calibri" pitchFamily="34" charset="-122"/>
                <a:cs typeface="Calibri" pitchFamily="34" charset="-120"/>
              </a:rPr>
              <a:t>For each elephant, sum how far it travels each day, and flag any day it covers far less ground than its own normal, down to its lowest 1% of days on record.</a:t>
            </a:r>
            <a:endParaRPr lang="en-US" dirty="0"/>
          </a:p>
        </p:txBody>
      </p:sp>
      <p:sp>
        <p:nvSpPr>
          <p:cNvPr id="8" name="Shape 6"/>
          <p:cNvSpPr/>
          <p:nvPr/>
        </p:nvSpPr>
        <p:spPr>
          <a:xfrm>
            <a:off x="6263640" y="1508760"/>
            <a:ext cx="5257800" cy="2240280"/>
          </a:xfrm>
          <a:prstGeom prst="roundRect">
            <a:avLst>
              <a:gd name="adj" fmla="val 3265"/>
            </a:avLst>
          </a:prstGeom>
          <a:solidFill>
            <a:srgbClr val="EAF3EC"/>
          </a:solidFill>
          <a:ln/>
        </p:spPr>
      </p:sp>
      <p:sp>
        <p:nvSpPr>
          <p:cNvPr id="9" name="Shape 7"/>
          <p:cNvSpPr/>
          <p:nvPr/>
        </p:nvSpPr>
        <p:spPr>
          <a:xfrm>
            <a:off x="6492240" y="1709928"/>
            <a:ext cx="384048" cy="384048"/>
          </a:xfrm>
          <a:prstGeom prst="ellipse">
            <a:avLst/>
          </a:prstGeom>
          <a:solidFill>
            <a:srgbClr val="2D6A4F"/>
          </a:solidFill>
          <a:ln/>
        </p:spPr>
      </p:sp>
      <p:sp>
        <p:nvSpPr>
          <p:cNvPr id="10" name="Text 8"/>
          <p:cNvSpPr/>
          <p:nvPr/>
        </p:nvSpPr>
        <p:spPr>
          <a:xfrm>
            <a:off x="6492240" y="170992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086600" y="1673352"/>
            <a:ext cx="4251960" cy="50292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Why it matters</a:t>
            </a:r>
            <a:endParaRPr lang="en-US" sz="1600" dirty="0"/>
          </a:p>
        </p:txBody>
      </p:sp>
      <p:sp>
        <p:nvSpPr>
          <p:cNvPr id="12" name="Text 10"/>
          <p:cNvSpPr/>
          <p:nvPr/>
        </p:nvSpPr>
        <p:spPr>
          <a:xfrm>
            <a:off x="6537960" y="2286000"/>
            <a:ext cx="4709160" cy="1280160"/>
          </a:xfrm>
          <a:prstGeom prst="rect">
            <a:avLst/>
          </a:prstGeom>
          <a:noFill/>
          <a:ln/>
        </p:spPr>
        <p:txBody>
          <a:bodyPr wrap="square" rtlCol="0" anchor="ctr"/>
          <a:lstStyle/>
          <a:p>
            <a:pPr marL="0" indent="0">
              <a:lnSpc>
                <a:spcPct val="118000"/>
              </a:lnSpc>
              <a:buNone/>
            </a:pPr>
            <a:r>
              <a:rPr lang="en-US" dirty="0">
                <a:solidFill>
                  <a:srgbClr val="1F2A24"/>
                </a:solidFill>
                <a:latin typeface="Calibri" pitchFamily="34" charset="0"/>
                <a:ea typeface="Calibri" pitchFamily="34" charset="-122"/>
                <a:cs typeface="Calibri" pitchFamily="34" charset="-120"/>
              </a:rPr>
              <a:t>A sudden drop in daily movement is one of the earliest signs that something is wrong: injury, snaring, illness or weakness while the animal is still moving and can still be reached in time.</a:t>
            </a:r>
            <a:endParaRPr lang="en-US" dirty="0"/>
          </a:p>
        </p:txBody>
      </p:sp>
      <p:sp>
        <p:nvSpPr>
          <p:cNvPr id="13" name="Shape 11"/>
          <p:cNvSpPr/>
          <p:nvPr/>
        </p:nvSpPr>
        <p:spPr>
          <a:xfrm>
            <a:off x="640080" y="4069080"/>
            <a:ext cx="5257800" cy="2240280"/>
          </a:xfrm>
          <a:prstGeom prst="roundRect">
            <a:avLst>
              <a:gd name="adj" fmla="val 3265"/>
            </a:avLst>
          </a:prstGeom>
          <a:solidFill>
            <a:srgbClr val="EAF3EC"/>
          </a:solidFill>
          <a:ln/>
        </p:spPr>
        <p:txBody>
          <a:bodyPr/>
          <a:lstStyle/>
          <a:p>
            <a:endParaRPr lang="en-US" dirty="0"/>
          </a:p>
        </p:txBody>
      </p:sp>
      <p:sp>
        <p:nvSpPr>
          <p:cNvPr id="14" name="Shape 12"/>
          <p:cNvSpPr/>
          <p:nvPr/>
        </p:nvSpPr>
        <p:spPr>
          <a:xfrm>
            <a:off x="868680" y="4270248"/>
            <a:ext cx="384048" cy="384048"/>
          </a:xfrm>
          <a:prstGeom prst="ellipse">
            <a:avLst/>
          </a:prstGeom>
          <a:solidFill>
            <a:srgbClr val="2D6A4F"/>
          </a:solidFill>
          <a:ln/>
        </p:spPr>
      </p:sp>
      <p:sp>
        <p:nvSpPr>
          <p:cNvPr id="15" name="Text 13"/>
          <p:cNvSpPr/>
          <p:nvPr/>
        </p:nvSpPr>
        <p:spPr>
          <a:xfrm>
            <a:off x="868680" y="427024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63040" y="4233672"/>
            <a:ext cx="4251960" cy="50292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Judged against itself</a:t>
            </a:r>
            <a:endParaRPr lang="en-US" sz="1600" dirty="0"/>
          </a:p>
        </p:txBody>
      </p:sp>
      <p:sp>
        <p:nvSpPr>
          <p:cNvPr id="17" name="Text 15"/>
          <p:cNvSpPr/>
          <p:nvPr/>
        </p:nvSpPr>
        <p:spPr>
          <a:xfrm>
            <a:off x="914400" y="4846320"/>
            <a:ext cx="4709160" cy="1280160"/>
          </a:xfrm>
          <a:prstGeom prst="rect">
            <a:avLst/>
          </a:prstGeom>
          <a:noFill/>
          <a:ln/>
        </p:spPr>
        <p:txBody>
          <a:bodyPr wrap="square" rtlCol="0" anchor="ctr"/>
          <a:lstStyle/>
          <a:p>
            <a:pPr marL="0" indent="0">
              <a:lnSpc>
                <a:spcPct val="118000"/>
              </a:lnSpc>
              <a:buNone/>
            </a:pPr>
            <a:r>
              <a:rPr lang="en-US" dirty="0">
                <a:solidFill>
                  <a:srgbClr val="1F2A24"/>
                </a:solidFill>
                <a:latin typeface="Calibri" pitchFamily="34" charset="0"/>
                <a:ea typeface="Calibri" pitchFamily="34" charset="-122"/>
                <a:cs typeface="Calibri" pitchFamily="34" charset="-120"/>
              </a:rPr>
              <a:t>Every elephant is compared to its own history, never a park average so a naturally low-ranging animal is not falsely flagged, and a decline in an active one is caught early.</a:t>
            </a:r>
            <a:endParaRPr lang="en-US" dirty="0"/>
          </a:p>
        </p:txBody>
      </p:sp>
      <p:sp>
        <p:nvSpPr>
          <p:cNvPr id="18" name="Shape 16"/>
          <p:cNvSpPr/>
          <p:nvPr/>
        </p:nvSpPr>
        <p:spPr>
          <a:xfrm>
            <a:off x="6263640" y="4069080"/>
            <a:ext cx="5257800" cy="2240280"/>
          </a:xfrm>
          <a:prstGeom prst="roundRect">
            <a:avLst>
              <a:gd name="adj" fmla="val 3265"/>
            </a:avLst>
          </a:prstGeom>
          <a:solidFill>
            <a:srgbClr val="EAF3EC"/>
          </a:solidFill>
          <a:ln/>
        </p:spPr>
      </p:sp>
      <p:sp>
        <p:nvSpPr>
          <p:cNvPr id="19" name="Shape 17"/>
          <p:cNvSpPr/>
          <p:nvPr/>
        </p:nvSpPr>
        <p:spPr>
          <a:xfrm>
            <a:off x="6492240" y="4270248"/>
            <a:ext cx="384048" cy="384048"/>
          </a:xfrm>
          <a:prstGeom prst="ellipse">
            <a:avLst/>
          </a:prstGeom>
          <a:solidFill>
            <a:srgbClr val="2D6A4F"/>
          </a:solidFill>
          <a:ln/>
        </p:spPr>
      </p:sp>
      <p:sp>
        <p:nvSpPr>
          <p:cNvPr id="20" name="Text 18"/>
          <p:cNvSpPr/>
          <p:nvPr/>
        </p:nvSpPr>
        <p:spPr>
          <a:xfrm>
            <a:off x="6492240" y="427024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7086600" y="4233672"/>
            <a:ext cx="4251960" cy="50292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Reliable only where data is dense</a:t>
            </a:r>
            <a:endParaRPr lang="en-US" sz="1600" dirty="0"/>
          </a:p>
        </p:txBody>
      </p:sp>
      <p:sp>
        <p:nvSpPr>
          <p:cNvPr id="22" name="Text 20"/>
          <p:cNvSpPr/>
          <p:nvPr/>
        </p:nvSpPr>
        <p:spPr>
          <a:xfrm>
            <a:off x="6537960" y="4846320"/>
            <a:ext cx="4709160" cy="1280160"/>
          </a:xfrm>
          <a:prstGeom prst="rect">
            <a:avLst/>
          </a:prstGeom>
          <a:noFill/>
          <a:ln/>
        </p:spPr>
        <p:txBody>
          <a:bodyPr wrap="square" rtlCol="0" anchor="ctr"/>
          <a:lstStyle/>
          <a:p>
            <a:pPr marL="0" indent="0">
              <a:lnSpc>
                <a:spcPct val="118000"/>
              </a:lnSpc>
              <a:buNone/>
            </a:pPr>
            <a:r>
              <a:rPr lang="en-US" dirty="0">
                <a:solidFill>
                  <a:srgbClr val="1F2A24"/>
                </a:solidFill>
                <a:latin typeface="Calibri" pitchFamily="34" charset="0"/>
                <a:ea typeface="Calibri" pitchFamily="34" charset="-122"/>
                <a:cs typeface="Calibri" pitchFamily="34" charset="-120"/>
              </a:rPr>
              <a:t>A day's distance is trustworthy only when most hourly fixes are present (≥ 20/day). Where a collar is sparse the method stays silent — and that silence means “not enough data”, not “the elephant is fine”.</a:t>
            </a:r>
            <a:endParaRPr lang="en-US" dirty="0"/>
          </a:p>
        </p:txBody>
      </p:sp>
      <p:sp>
        <p:nvSpPr>
          <p:cNvPr id="24" name="Text 21"/>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25" name="Text 22"/>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Example — Gothami</a:t>
            </a:r>
            <a:endParaRPr lang="en-US" sz="2800" dirty="0"/>
          </a:p>
        </p:txBody>
      </p:sp>
      <p:sp>
        <p:nvSpPr>
          <p:cNvPr id="3" name="Text 1"/>
          <p:cNvSpPr/>
          <p:nvPr/>
        </p:nvSpPr>
        <p:spPr>
          <a:xfrm>
            <a:off x="640080" y="1051560"/>
            <a:ext cx="5486400" cy="365760"/>
          </a:xfrm>
          <a:prstGeom prst="rect">
            <a:avLst/>
          </a:prstGeom>
          <a:noFill/>
          <a:ln/>
        </p:spPr>
        <p:txBody>
          <a:bodyPr wrap="square" rtlCol="0" anchor="ctr"/>
          <a:lstStyle/>
          <a:p>
            <a:pPr marL="0" indent="0">
              <a:buNone/>
            </a:pPr>
            <a:r>
              <a:rPr lang="en-US" sz="1300" i="1" dirty="0">
                <a:solidFill>
                  <a:srgbClr val="50655A"/>
                </a:solidFill>
                <a:latin typeface="Calibri" pitchFamily="34" charset="0"/>
                <a:ea typeface="Calibri" pitchFamily="34" charset="-122"/>
                <a:cs typeface="Calibri" pitchFamily="34" charset="-120"/>
              </a:rPr>
              <a:t>How to read it</a:t>
            </a:r>
            <a:endParaRPr lang="en-US" sz="1300" dirty="0"/>
          </a:p>
        </p:txBody>
      </p:sp>
      <p:sp>
        <p:nvSpPr>
          <p:cNvPr id="4" name="Text 2"/>
          <p:cNvSpPr/>
          <p:nvPr/>
        </p:nvSpPr>
        <p:spPr>
          <a:xfrm>
            <a:off x="640080" y="1463040"/>
            <a:ext cx="10881360" cy="1828800"/>
          </a:xfrm>
          <a:prstGeom prst="rect">
            <a:avLst/>
          </a:prstGeom>
          <a:noFill/>
          <a:ln/>
        </p:spPr>
        <p:txBody>
          <a:bodyPr wrap="square" rtlCol="0" anchor="ctr"/>
          <a:lstStyle/>
          <a:p>
            <a:pPr marL="228600" indent="-228600">
              <a:lnSpc>
                <a:spcPct val="115000"/>
              </a:lnSpc>
              <a:spcAft>
                <a:spcPts val="1000"/>
              </a:spcAft>
              <a:buSzPct val="100000"/>
              <a:buChar char="●"/>
            </a:pPr>
            <a:r>
              <a:rPr lang="en-US" sz="1600" dirty="0">
                <a:solidFill>
                  <a:srgbClr val="1F2A24"/>
                </a:solidFill>
                <a:latin typeface="Calibri" pitchFamily="34" charset="0"/>
                <a:ea typeface="Calibri" pitchFamily="34" charset="-122"/>
                <a:cs typeface="Calibri" pitchFamily="34" charset="-120"/>
              </a:rPr>
              <a:t>Only 3 of 208 well-covered days were flagged and all three fall inside one week. A short cluster is a far stronger prompt than any isolated day.</a:t>
            </a:r>
            <a:endParaRPr lang="en-US" sz="1600" dirty="0"/>
          </a:p>
          <a:p>
            <a:pPr marL="228600" indent="-228600">
              <a:lnSpc>
                <a:spcPct val="115000"/>
              </a:lnSpc>
              <a:spcAft>
                <a:spcPts val="1000"/>
              </a:spcAft>
              <a:buSzPct val="100000"/>
              <a:buChar char="●"/>
            </a:pPr>
            <a:r>
              <a:rPr lang="en-US" sz="1600" dirty="0">
                <a:solidFill>
                  <a:srgbClr val="1F2A24"/>
                </a:solidFill>
                <a:latin typeface="Calibri" pitchFamily="34" charset="0"/>
                <a:ea typeface="Calibri" pitchFamily="34" charset="-122"/>
                <a:cs typeface="Calibri" pitchFamily="34" charset="-120"/>
              </a:rPr>
              <a:t>On those days she moved 0.77–1.29 km, against a typical 5.03 km/day.</a:t>
            </a:r>
            <a:endParaRPr lang="en-US" sz="1600" dirty="0"/>
          </a:p>
          <a:p>
            <a:pPr marL="228600" indent="-228600">
              <a:lnSpc>
                <a:spcPct val="115000"/>
              </a:lnSpc>
              <a:spcAft>
                <a:spcPts val="1000"/>
              </a:spcAft>
              <a:buSzPct val="100000"/>
              <a:buChar char="●"/>
            </a:pPr>
            <a:r>
              <a:rPr lang="en-US" sz="1600" dirty="0">
                <a:solidFill>
                  <a:srgbClr val="1F2A24"/>
                </a:solidFill>
                <a:latin typeface="Calibri" pitchFamily="34" charset="0"/>
                <a:ea typeface="Calibri" pitchFamily="34" charset="-122"/>
                <a:cs typeface="Calibri" pitchFamily="34" charset="-120"/>
              </a:rPr>
              <a:t>She resumed normal movement immediately after. This could be the elephant resting time, not an emergency, but exactly the kind of event worth a field check.</a:t>
            </a:r>
            <a:endParaRPr lang="en-US" sz="1600" dirty="0"/>
          </a:p>
        </p:txBody>
      </p:sp>
      <p:sp>
        <p:nvSpPr>
          <p:cNvPr id="5" name="Shape 3"/>
          <p:cNvSpPr/>
          <p:nvPr/>
        </p:nvSpPr>
        <p:spPr>
          <a:xfrm>
            <a:off x="2761675" y="3291840"/>
            <a:ext cx="6638171" cy="1645920"/>
          </a:xfrm>
          <a:prstGeom prst="roundRect">
            <a:avLst>
              <a:gd name="adj" fmla="val 2778"/>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6" name="Image 0" descr="/home/claude/work/assets2/moverate_s3_1.png"/>
          <p:cNvPicPr>
            <a:picLocks noChangeAspect="1"/>
          </p:cNvPicPr>
          <p:nvPr/>
        </p:nvPicPr>
        <p:blipFill>
          <a:blip r:embed="rId3"/>
          <a:stretch>
            <a:fillRect/>
          </a:stretch>
        </p:blipFill>
        <p:spPr>
          <a:xfrm>
            <a:off x="2853115" y="3383280"/>
            <a:ext cx="6455291" cy="1463040"/>
          </a:xfrm>
          <a:prstGeom prst="rect">
            <a:avLst/>
          </a:prstGeom>
        </p:spPr>
      </p:pic>
      <p:sp>
        <p:nvSpPr>
          <p:cNvPr id="7" name="Shape 4"/>
          <p:cNvSpPr/>
          <p:nvPr/>
        </p:nvSpPr>
        <p:spPr>
          <a:xfrm>
            <a:off x="2188115" y="4937760"/>
            <a:ext cx="7785290" cy="1417320"/>
          </a:xfrm>
          <a:prstGeom prst="roundRect">
            <a:avLst>
              <a:gd name="adj" fmla="val 3226"/>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8" name="Image 1" descr="/home/claude/work/assets2/moverate_s3_2.png"/>
          <p:cNvPicPr>
            <a:picLocks noChangeAspect="1"/>
          </p:cNvPicPr>
          <p:nvPr/>
        </p:nvPicPr>
        <p:blipFill>
          <a:blip r:embed="rId4"/>
          <a:stretch>
            <a:fillRect/>
          </a:stretch>
        </p:blipFill>
        <p:spPr>
          <a:xfrm>
            <a:off x="2279555" y="5029200"/>
            <a:ext cx="7602410" cy="1234440"/>
          </a:xfrm>
          <a:prstGeom prst="rect">
            <a:avLst/>
          </a:prstGeom>
        </p:spPr>
      </p:pic>
      <p:sp>
        <p:nvSpPr>
          <p:cNvPr id="10" name="Text 5"/>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6"/>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777240"/>
          </a:xfrm>
          <a:prstGeom prst="rect">
            <a:avLst/>
          </a:prstGeom>
          <a:noFill/>
          <a:ln/>
        </p:spPr>
        <p:txBody>
          <a:bodyPr wrap="square" rtlCol="0" anchor="ctr"/>
          <a:lstStyle/>
          <a:p>
            <a:pPr marL="0" indent="0">
              <a:buNone/>
            </a:pPr>
            <a:r>
              <a:rPr lang="en-US" sz="3400" dirty="0">
                <a:solidFill>
                  <a:srgbClr val="FFFFFF"/>
                </a:solidFill>
                <a:latin typeface="Georgia" pitchFamily="34" charset="0"/>
                <a:ea typeface="Georgia" pitchFamily="34" charset="-122"/>
                <a:cs typeface="Georgia" pitchFamily="34" charset="-120"/>
              </a:rPr>
              <a:t>Immobility Anomaly Monitor</a:t>
            </a:r>
            <a:endParaRPr lang="en-US" sz="3400" dirty="0"/>
          </a:p>
        </p:txBody>
      </p:sp>
      <p:sp>
        <p:nvSpPr>
          <p:cNvPr id="5" name="Text 3"/>
          <p:cNvSpPr/>
          <p:nvPr/>
        </p:nvSpPr>
        <p:spPr>
          <a:xfrm>
            <a:off x="822960" y="3703320"/>
            <a:ext cx="10515600" cy="548640"/>
          </a:xfrm>
          <a:prstGeom prst="rect">
            <a:avLst/>
          </a:prstGeom>
          <a:noFill/>
          <a:ln/>
        </p:spPr>
        <p:txBody>
          <a:bodyPr wrap="square" rtlCol="0" anchor="ctr"/>
          <a:lstStyle/>
          <a:p>
            <a:pPr marL="0" indent="0">
              <a:buNone/>
            </a:pPr>
            <a:r>
              <a:rPr lang="en-US" sz="1600" dirty="0">
                <a:solidFill>
                  <a:srgbClr val="D7E9DE"/>
                </a:solidFill>
                <a:latin typeface="Calibri" pitchFamily="34" charset="0"/>
                <a:ea typeface="Calibri" pitchFamily="34" charset="-122"/>
                <a:cs typeface="Calibri" pitchFamily="34" charset="-120"/>
              </a:rPr>
              <a:t>Immobility is the state of not moving, or being incapable of moving or changing location</a:t>
            </a:r>
            <a:endParaRPr lang="en-US" sz="1600" dirty="0"/>
          </a:p>
        </p:txBody>
      </p:sp>
      <p:sp>
        <p:nvSpPr>
          <p:cNvPr id="6" name="Text 4"/>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5"/>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Key Insights</a:t>
            </a:r>
            <a:endParaRPr lang="en-US" sz="2800" dirty="0"/>
          </a:p>
        </p:txBody>
      </p:sp>
      <p:sp>
        <p:nvSpPr>
          <p:cNvPr id="3" name="Text 1"/>
          <p:cNvSpPr/>
          <p:nvPr/>
        </p:nvSpPr>
        <p:spPr>
          <a:xfrm>
            <a:off x="640080" y="1417320"/>
            <a:ext cx="10881360" cy="36576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The published rule:</a:t>
            </a:r>
            <a:endParaRPr lang="en-US" sz="1600" dirty="0"/>
          </a:p>
        </p:txBody>
      </p:sp>
      <p:sp>
        <p:nvSpPr>
          <p:cNvPr id="4" name="Text 2"/>
          <p:cNvSpPr/>
          <p:nvPr/>
        </p:nvSpPr>
        <p:spPr>
          <a:xfrm>
            <a:off x="640080" y="1783080"/>
            <a:ext cx="10881360" cy="685800"/>
          </a:xfrm>
          <a:prstGeom prst="rect">
            <a:avLst/>
          </a:prstGeom>
          <a:noFill/>
          <a:ln/>
        </p:spPr>
        <p:txBody>
          <a:bodyPr wrap="square" rtlCol="0" anchor="ctr"/>
          <a:lstStyle/>
          <a:p>
            <a:pPr marL="0" indent="0">
              <a:lnSpc>
                <a:spcPct val="120000"/>
              </a:lnSpc>
              <a:buNone/>
            </a:pPr>
            <a:r>
              <a:rPr lang="en-US" sz="2000" dirty="0">
                <a:solidFill>
                  <a:srgbClr val="1F2A24"/>
                </a:solidFill>
                <a:latin typeface="Calibri" pitchFamily="34" charset="0"/>
                <a:ea typeface="Calibri" pitchFamily="34" charset="-122"/>
                <a:cs typeface="Calibri" pitchFamily="34" charset="-120"/>
              </a:rPr>
              <a:t>flags an elephant when it stays within a 13-metre circle for 5+ hours; a pattern that means one of three things: dead, injured, or in deep rest. (Wall et al.)</a:t>
            </a:r>
            <a:endParaRPr lang="en-US" sz="2000" dirty="0"/>
          </a:p>
        </p:txBody>
      </p:sp>
      <p:sp>
        <p:nvSpPr>
          <p:cNvPr id="5" name="Text 3"/>
          <p:cNvSpPr/>
          <p:nvPr/>
        </p:nvSpPr>
        <p:spPr>
          <a:xfrm>
            <a:off x="640080" y="2857769"/>
            <a:ext cx="10881360" cy="36576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The one flag — Gothami</a:t>
            </a:r>
            <a:endParaRPr lang="en-US" sz="1600" dirty="0"/>
          </a:p>
        </p:txBody>
      </p:sp>
      <p:sp>
        <p:nvSpPr>
          <p:cNvPr id="6" name="Text 4"/>
          <p:cNvSpPr/>
          <p:nvPr/>
        </p:nvSpPr>
        <p:spPr>
          <a:xfrm>
            <a:off x="640080" y="3223529"/>
            <a:ext cx="10881360" cy="685800"/>
          </a:xfrm>
          <a:prstGeom prst="rect">
            <a:avLst/>
          </a:prstGeom>
          <a:noFill/>
          <a:ln/>
        </p:spPr>
        <p:txBody>
          <a:bodyPr wrap="square" rtlCol="0" anchor="ctr"/>
          <a:lstStyle/>
          <a:p>
            <a:pPr marL="0" indent="0">
              <a:lnSpc>
                <a:spcPct val="120000"/>
              </a:lnSpc>
              <a:buNone/>
            </a:pPr>
            <a:r>
              <a:rPr lang="en-US" sz="2000" dirty="0">
                <a:solidFill>
                  <a:srgbClr val="1F2A24"/>
                </a:solidFill>
                <a:latin typeface="Calibri" pitchFamily="34" charset="0"/>
                <a:ea typeface="Calibri" pitchFamily="34" charset="-122"/>
                <a:cs typeface="Calibri" pitchFamily="34" charset="-120"/>
              </a:rPr>
              <a:t>flagged: 6 Aug 2025, 01:00–06:00 (5 hours). Gothami kept transmitting normally for months after – so this was deep rest, not death or injury.</a:t>
            </a:r>
            <a:endParaRPr lang="en-US" sz="2000" dirty="0"/>
          </a:p>
        </p:txBody>
      </p:sp>
      <p:sp>
        <p:nvSpPr>
          <p:cNvPr id="7" name="Text 5"/>
          <p:cNvSpPr/>
          <p:nvPr/>
        </p:nvSpPr>
        <p:spPr>
          <a:xfrm>
            <a:off x="640080" y="4215384"/>
            <a:ext cx="10881360" cy="365760"/>
          </a:xfrm>
          <a:prstGeom prst="rect">
            <a:avLst/>
          </a:prstGeom>
          <a:noFill/>
          <a:ln/>
        </p:spPr>
        <p:txBody>
          <a:bodyPr wrap="square" rtlCol="0" anchor="ctr"/>
          <a:lstStyle/>
          <a:p>
            <a:pPr marL="0" indent="0">
              <a:buNone/>
            </a:pPr>
            <a:r>
              <a:rPr lang="en-US" sz="1600" b="1" dirty="0">
                <a:solidFill>
                  <a:srgbClr val="1B4332"/>
                </a:solidFill>
                <a:latin typeface="Georgia" pitchFamily="34" charset="0"/>
                <a:ea typeface="Georgia" pitchFamily="34" charset="-122"/>
                <a:cs typeface="Georgia" pitchFamily="34" charset="-120"/>
              </a:rPr>
              <a:t>Silence isn’t proof of safety</a:t>
            </a:r>
            <a:endParaRPr lang="en-US" sz="1600" dirty="0"/>
          </a:p>
        </p:txBody>
      </p:sp>
      <p:sp>
        <p:nvSpPr>
          <p:cNvPr id="8" name="Text 6"/>
          <p:cNvSpPr/>
          <p:nvPr/>
        </p:nvSpPr>
        <p:spPr>
          <a:xfrm>
            <a:off x="640080" y="4581144"/>
            <a:ext cx="10881360" cy="685800"/>
          </a:xfrm>
          <a:prstGeom prst="rect">
            <a:avLst/>
          </a:prstGeom>
          <a:noFill/>
          <a:ln/>
        </p:spPr>
        <p:txBody>
          <a:bodyPr wrap="square" rtlCol="0" anchor="ctr"/>
          <a:lstStyle/>
          <a:p>
            <a:pPr marL="0" indent="0">
              <a:lnSpc>
                <a:spcPct val="120000"/>
              </a:lnSpc>
              <a:buNone/>
            </a:pPr>
            <a:r>
              <a:rPr lang="en-US" sz="2000" dirty="0">
                <a:solidFill>
                  <a:srgbClr val="1F2A24"/>
                </a:solidFill>
                <a:latin typeface="Calibri" pitchFamily="34" charset="0"/>
                <a:ea typeface="Calibri" pitchFamily="34" charset="-122"/>
                <a:cs typeface="Calibri" pitchFamily="34" charset="-120"/>
              </a:rPr>
              <a:t>Most elephants are missing 55–98% of their GPS fixes, so a “no flag” result for them mainly reflects missing data, not confirmed safety.</a:t>
            </a:r>
            <a:endParaRPr lang="en-US" sz="2000" dirty="0"/>
          </a:p>
        </p:txBody>
      </p:sp>
      <p:sp>
        <p:nvSpPr>
          <p:cNvPr id="9" name="Text 7"/>
          <p:cNvSpPr/>
          <p:nvPr/>
        </p:nvSpPr>
        <p:spPr>
          <a:xfrm>
            <a:off x="655320" y="5751576"/>
            <a:ext cx="10881360" cy="548640"/>
          </a:xfrm>
          <a:prstGeom prst="rect">
            <a:avLst/>
          </a:prstGeom>
          <a:noFill/>
          <a:ln/>
        </p:spPr>
        <p:txBody>
          <a:bodyPr wrap="square" rtlCol="0" anchor="ctr"/>
          <a:lstStyle/>
          <a:p>
            <a:pPr marL="0" indent="0">
              <a:buNone/>
            </a:pPr>
            <a:r>
              <a:rPr lang="en-US" sz="2000" i="1" dirty="0">
                <a:solidFill>
                  <a:srgbClr val="50655A"/>
                </a:solidFill>
                <a:latin typeface="Calibri" pitchFamily="34" charset="0"/>
                <a:ea typeface="Calibri" pitchFamily="34" charset="-122"/>
                <a:cs typeface="Calibri" pitchFamily="34" charset="-120"/>
              </a:rPr>
              <a:t>Only Gothami and recollared female have enough data coverage to trust their result either way</a:t>
            </a:r>
            <a:endParaRPr lang="en-US" sz="2000" dirty="0"/>
          </a:p>
        </p:txBody>
      </p:sp>
      <p:sp>
        <p:nvSpPr>
          <p:cNvPr id="10" name="Text 8"/>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9"/>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What the dashboard shows</a:t>
            </a:r>
            <a:endParaRPr lang="en-US" sz="2800" dirty="0"/>
          </a:p>
        </p:txBody>
      </p:sp>
      <p:sp>
        <p:nvSpPr>
          <p:cNvPr id="3" name="Text 1"/>
          <p:cNvSpPr/>
          <p:nvPr/>
        </p:nvSpPr>
        <p:spPr>
          <a:xfrm>
            <a:off x="640080" y="1097280"/>
            <a:ext cx="10881360" cy="731520"/>
          </a:xfrm>
          <a:prstGeom prst="rect">
            <a:avLst/>
          </a:prstGeom>
          <a:noFill/>
          <a:ln/>
        </p:spPr>
        <p:txBody>
          <a:bodyPr wrap="square" rtlCol="0" anchor="t"/>
          <a:lstStyle/>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Analytics picks an elephant, a year, and thresholds and the map highlights any GPS fixes that fall inside a flagged immobility window.</a:t>
            </a:r>
            <a:endParaRPr lang="en-US" dirty="0"/>
          </a:p>
        </p:txBody>
      </p:sp>
      <p:sp>
        <p:nvSpPr>
          <p:cNvPr id="4" name="Shape 2"/>
          <p:cNvSpPr/>
          <p:nvPr/>
        </p:nvSpPr>
        <p:spPr>
          <a:xfrm>
            <a:off x="1204789" y="1874520"/>
            <a:ext cx="9751941" cy="4754880"/>
          </a:xfrm>
          <a:prstGeom prst="roundRect">
            <a:avLst>
              <a:gd name="adj" fmla="val 962"/>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immobility_s3_1.png"/>
          <p:cNvPicPr>
            <a:picLocks noChangeAspect="1"/>
          </p:cNvPicPr>
          <p:nvPr/>
        </p:nvPicPr>
        <p:blipFill>
          <a:blip r:embed="rId3"/>
          <a:stretch>
            <a:fillRect/>
          </a:stretch>
        </p:blipFill>
        <p:spPr>
          <a:xfrm>
            <a:off x="1296229" y="1965960"/>
            <a:ext cx="9569061" cy="4572000"/>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20040"/>
            <a:ext cx="10881360" cy="685800"/>
          </a:xfrm>
          <a:prstGeom prst="rect">
            <a:avLst/>
          </a:prstGeom>
          <a:noFill/>
          <a:ln/>
        </p:spPr>
        <p:txBody>
          <a:bodyPr wrap="square" rtlCol="0" anchor="ctr"/>
          <a:lstStyle/>
          <a:p>
            <a:pPr marL="0" indent="0">
              <a:buNone/>
            </a:pPr>
            <a:r>
              <a:rPr lang="en-US" sz="2800" b="1" dirty="0">
                <a:solidFill>
                  <a:srgbClr val="1B4332"/>
                </a:solidFill>
                <a:latin typeface="Georgia" pitchFamily="34" charset="0"/>
                <a:ea typeface="Georgia" pitchFamily="34" charset="-122"/>
                <a:cs typeface="Georgia" pitchFamily="34" charset="-120"/>
              </a:rPr>
              <a:t>Elephant Recue Alert System</a:t>
            </a:r>
            <a:endParaRPr lang="en-US" sz="2800" dirty="0"/>
          </a:p>
        </p:txBody>
      </p:sp>
      <p:sp>
        <p:nvSpPr>
          <p:cNvPr id="3" name="Text 1"/>
          <p:cNvSpPr/>
          <p:nvPr/>
        </p:nvSpPr>
        <p:spPr>
          <a:xfrm>
            <a:off x="640080" y="1097280"/>
            <a:ext cx="10881360" cy="1280160"/>
          </a:xfrm>
          <a:prstGeom prst="rect">
            <a:avLst/>
          </a:prstGeom>
          <a:noFill/>
          <a:ln/>
        </p:spPr>
        <p:txBody>
          <a:bodyPr wrap="square" rtlCol="0" anchor="t"/>
          <a:lstStyle/>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When unusual elephant behavior is detected, the system sends an alert with location to the wildlife team. They can visit the location, check the elephant’s condition, and provide help if needed. This allows faster action can improve the elephant’s survival.</a:t>
            </a:r>
            <a:endParaRPr lang="en-US" sz="2000" dirty="0"/>
          </a:p>
        </p:txBody>
      </p:sp>
      <p:sp>
        <p:nvSpPr>
          <p:cNvPr id="4" name="Shape 2"/>
          <p:cNvSpPr/>
          <p:nvPr/>
        </p:nvSpPr>
        <p:spPr>
          <a:xfrm>
            <a:off x="365760" y="3483766"/>
            <a:ext cx="11430000" cy="2450789"/>
          </a:xfrm>
          <a:prstGeom prst="roundRect">
            <a:avLst>
              <a:gd name="adj" fmla="val 1866"/>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5" name="Image 0" descr="/home/claude/work/assets2/immobility_s4_1.png"/>
          <p:cNvPicPr>
            <a:picLocks noChangeAspect="1"/>
          </p:cNvPicPr>
          <p:nvPr/>
        </p:nvPicPr>
        <p:blipFill>
          <a:blip r:embed="rId3"/>
          <a:stretch>
            <a:fillRect/>
          </a:stretch>
        </p:blipFill>
        <p:spPr>
          <a:xfrm>
            <a:off x="457200" y="3575206"/>
            <a:ext cx="11247120" cy="2267909"/>
          </a:xfrm>
          <a:prstGeom prst="rect">
            <a:avLst/>
          </a:prstGeom>
        </p:spPr>
      </p:pic>
      <p:sp>
        <p:nvSpPr>
          <p:cNvPr id="6" name="Text 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685800"/>
          </a:xfrm>
          <a:prstGeom prst="rect">
            <a:avLst/>
          </a:prstGeom>
          <a:noFill/>
          <a:ln/>
        </p:spPr>
        <p:txBody>
          <a:bodyPr wrap="square" rtlCol="0" anchor="ctr"/>
          <a:lstStyle/>
          <a:p>
            <a:pPr marL="0" indent="0">
              <a:buNone/>
            </a:pPr>
            <a:r>
              <a:rPr lang="en-US" sz="3400" dirty="0">
                <a:solidFill>
                  <a:srgbClr val="FFFFFF"/>
                </a:solidFill>
                <a:latin typeface="Georgia" pitchFamily="34" charset="0"/>
                <a:ea typeface="Georgia" pitchFamily="34" charset="-122"/>
                <a:cs typeface="Georgia" pitchFamily="34" charset="-120"/>
              </a:rPr>
              <a:t>Proximity Anomaly Detection</a:t>
            </a:r>
            <a:endParaRPr lang="en-US" sz="3400" dirty="0"/>
          </a:p>
        </p:txBody>
      </p:sp>
      <p:sp>
        <p:nvSpPr>
          <p:cNvPr id="5" name="Text 3"/>
          <p:cNvSpPr/>
          <p:nvPr/>
        </p:nvSpPr>
        <p:spPr>
          <a:xfrm>
            <a:off x="822960" y="3611880"/>
            <a:ext cx="10515600" cy="411480"/>
          </a:xfrm>
          <a:prstGeom prst="rect">
            <a:avLst/>
          </a:prstGeom>
          <a:noFill/>
          <a:ln/>
        </p:spPr>
        <p:txBody>
          <a:bodyPr wrap="square" rtlCol="0" anchor="ctr"/>
          <a:lstStyle/>
          <a:p>
            <a:pPr marL="0" indent="0">
              <a:buNone/>
            </a:pPr>
            <a:r>
              <a:rPr lang="en-US" sz="1600" dirty="0">
                <a:solidFill>
                  <a:srgbClr val="D7E9DE"/>
                </a:solidFill>
                <a:latin typeface="Calibri" pitchFamily="34" charset="0"/>
                <a:ea typeface="Calibri" pitchFamily="34" charset="-122"/>
                <a:cs typeface="Calibri" pitchFamily="34" charset="-120"/>
              </a:rPr>
              <a:t>Proximity &amp; Separation Analysis of GPS-Collared Elephants</a:t>
            </a:r>
            <a:endParaRPr lang="en-US" sz="1600" dirty="0"/>
          </a:p>
        </p:txBody>
      </p:sp>
      <p:sp>
        <p:nvSpPr>
          <p:cNvPr id="6" name="Text 4"/>
          <p:cNvSpPr/>
          <p:nvPr/>
        </p:nvSpPr>
        <p:spPr>
          <a:xfrm>
            <a:off x="822960" y="4041648"/>
            <a:ext cx="10515600" cy="320040"/>
          </a:xfrm>
          <a:prstGeom prst="rect">
            <a:avLst/>
          </a:prstGeom>
          <a:noFill/>
          <a:ln/>
        </p:spPr>
        <p:txBody>
          <a:bodyPr wrap="square" rtlCol="0" anchor="ctr"/>
          <a:lstStyle/>
          <a:p>
            <a:pPr marL="0" indent="0">
              <a:buNone/>
            </a:pPr>
            <a:r>
              <a:rPr lang="en-US" sz="1300" dirty="0">
                <a:solidFill>
                  <a:srgbClr val="BFE0CC"/>
                </a:solidFill>
                <a:latin typeface="Calibri" pitchFamily="34" charset="0"/>
                <a:ea typeface="Calibri" pitchFamily="34" charset="-122"/>
                <a:cs typeface="Calibri" pitchFamily="34" charset="-120"/>
              </a:rPr>
              <a:t>Kaudulla National Park</a:t>
            </a:r>
            <a:endParaRPr lang="en-US" sz="1300" dirty="0"/>
          </a:p>
        </p:txBody>
      </p:sp>
      <p:sp>
        <p:nvSpPr>
          <p:cNvPr id="7" name="Text 5"/>
          <p:cNvSpPr/>
          <p:nvPr/>
        </p:nvSpPr>
        <p:spPr>
          <a:xfrm>
            <a:off x="822960" y="5458968"/>
            <a:ext cx="10515600" cy="274320"/>
          </a:xfrm>
          <a:prstGeom prst="rect">
            <a:avLst/>
          </a:prstGeom>
          <a:noFill/>
          <a:ln/>
        </p:spPr>
        <p:txBody>
          <a:bodyPr wrap="square" rtlCol="0" anchor="ctr"/>
          <a:lstStyle/>
          <a:p>
            <a:pPr marL="0" indent="0">
              <a:buNone/>
            </a:pPr>
            <a:r>
              <a:rPr lang="en-US" sz="1050" dirty="0">
                <a:solidFill>
                  <a:srgbClr val="9CC5AC"/>
                </a:solidFill>
                <a:latin typeface="Calibri" pitchFamily="34" charset="0"/>
                <a:ea typeface="Calibri" pitchFamily="34" charset="-122"/>
                <a:cs typeface="Calibri" pitchFamily="34" charset="-120"/>
              </a:rPr>
              <a:t>Statistical Consultancy — Wildlife Conservation Department</a:t>
            </a:r>
            <a:endParaRPr lang="en-US" sz="1050" dirty="0"/>
          </a:p>
        </p:txBody>
      </p:sp>
      <p:sp>
        <p:nvSpPr>
          <p:cNvPr id="8" name="Text 6"/>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9" name="Text 7"/>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marL="0" indent="0">
              <a:buNone/>
            </a:pPr>
            <a:r>
              <a:rPr lang="en-US" sz="1100" b="1" kern="0" spc="100" dirty="0">
                <a:solidFill>
                  <a:srgbClr val="50655A"/>
                </a:solidFill>
                <a:latin typeface="Calibri" pitchFamily="34" charset="0"/>
                <a:ea typeface="Calibri" pitchFamily="34" charset="-122"/>
                <a:cs typeface="Calibri" pitchFamily="34" charset="-120"/>
              </a:rPr>
              <a:t>KEY INSIGHTS &amp; DASHBOARD FUNCTIONALITY  ·  PAIRWISE PROXIMITY</a:t>
            </a:r>
            <a:endParaRPr lang="en-US" sz="1100" dirty="0"/>
          </a:p>
        </p:txBody>
      </p:sp>
      <p:sp>
        <p:nvSpPr>
          <p:cNvPr id="3" name="Text 1"/>
          <p:cNvSpPr/>
          <p:nvPr/>
        </p:nvSpPr>
        <p:spPr>
          <a:xfrm>
            <a:off x="640080" y="54864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Key Insights for the Proximities Across the Herd</a:t>
            </a:r>
            <a:endParaRPr lang="en-US" sz="2400" dirty="0"/>
          </a:p>
        </p:txBody>
      </p:sp>
      <p:sp>
        <p:nvSpPr>
          <p:cNvPr id="4" name="Text 2"/>
          <p:cNvSpPr/>
          <p:nvPr/>
        </p:nvSpPr>
        <p:spPr>
          <a:xfrm>
            <a:off x="640080" y="1600200"/>
            <a:ext cx="3566160" cy="274320"/>
          </a:xfrm>
          <a:prstGeom prst="rect">
            <a:avLst/>
          </a:prstGeom>
          <a:noFill/>
          <a:ln/>
        </p:spPr>
        <p:txBody>
          <a:bodyPr wrap="square" rtlCol="0" anchor="ctr"/>
          <a:lstStyle/>
          <a:p>
            <a:pPr marL="0" indent="0">
              <a:buNone/>
            </a:pPr>
            <a:r>
              <a:rPr lang="en-US" sz="1600" b="1" dirty="0">
                <a:solidFill>
                  <a:srgbClr val="50655A"/>
                </a:solidFill>
                <a:latin typeface="Calibri" pitchFamily="34" charset="0"/>
                <a:ea typeface="Calibri" pitchFamily="34" charset="-122"/>
                <a:cs typeface="Calibri" pitchFamily="34" charset="-120"/>
              </a:rPr>
              <a:t>A CLOSE PAIR IN THE HERD</a:t>
            </a:r>
            <a:endParaRPr lang="en-US" sz="1600" dirty="0"/>
          </a:p>
        </p:txBody>
      </p:sp>
      <p:sp>
        <p:nvSpPr>
          <p:cNvPr id="5" name="Text 3"/>
          <p:cNvSpPr/>
          <p:nvPr/>
        </p:nvSpPr>
        <p:spPr>
          <a:xfrm>
            <a:off x="640080" y="1828800"/>
            <a:ext cx="3566160" cy="777240"/>
          </a:xfrm>
          <a:prstGeom prst="rect">
            <a:avLst/>
          </a:prstGeom>
          <a:noFill/>
          <a:ln/>
        </p:spPr>
        <p:txBody>
          <a:bodyPr wrap="square" rtlCol="0" anchor="ctr"/>
          <a:lstStyle/>
          <a:p>
            <a:pPr marL="0" indent="0">
              <a:buNone/>
            </a:pPr>
            <a:r>
              <a:rPr lang="en-US" sz="4400" b="1" dirty="0">
                <a:solidFill>
                  <a:srgbClr val="1B4332"/>
                </a:solidFill>
                <a:latin typeface="Georgia" pitchFamily="34" charset="0"/>
                <a:ea typeface="Georgia" pitchFamily="34" charset="-122"/>
                <a:cs typeface="Georgia" pitchFamily="34" charset="-120"/>
              </a:rPr>
              <a:t>43.7%</a:t>
            </a:r>
            <a:endParaRPr lang="en-US" sz="4400" dirty="0"/>
          </a:p>
        </p:txBody>
      </p:sp>
      <p:sp>
        <p:nvSpPr>
          <p:cNvPr id="6" name="Text 4"/>
          <p:cNvSpPr/>
          <p:nvPr/>
        </p:nvSpPr>
        <p:spPr>
          <a:xfrm>
            <a:off x="640080" y="2725540"/>
            <a:ext cx="3566160" cy="274320"/>
          </a:xfrm>
          <a:prstGeom prst="rect">
            <a:avLst/>
          </a:prstGeom>
          <a:noFill/>
          <a:ln/>
        </p:spPr>
        <p:txBody>
          <a:bodyPr wrap="square" rtlCol="0" anchor="ctr"/>
          <a:lstStyle/>
          <a:p>
            <a:pPr marL="0" indent="0">
              <a:buNone/>
            </a:pPr>
            <a:r>
              <a:rPr lang="en-US" sz="1600" dirty="0">
                <a:solidFill>
                  <a:srgbClr val="1F2A24"/>
                </a:solidFill>
                <a:latin typeface="Calibri" pitchFamily="34" charset="0"/>
                <a:ea typeface="Calibri" pitchFamily="34" charset="-122"/>
                <a:cs typeface="Calibri" pitchFamily="34" charset="-120"/>
              </a:rPr>
              <a:t>of tracked time spent within 500 m</a:t>
            </a:r>
            <a:endParaRPr lang="en-US" sz="1600" dirty="0"/>
          </a:p>
        </p:txBody>
      </p:sp>
      <p:sp>
        <p:nvSpPr>
          <p:cNvPr id="7" name="Text 5"/>
          <p:cNvSpPr/>
          <p:nvPr/>
        </p:nvSpPr>
        <p:spPr>
          <a:xfrm>
            <a:off x="640080" y="2981572"/>
            <a:ext cx="3566160" cy="274320"/>
          </a:xfrm>
          <a:prstGeom prst="rect">
            <a:avLst/>
          </a:prstGeom>
          <a:noFill/>
          <a:ln/>
        </p:spPr>
        <p:txBody>
          <a:bodyPr wrap="square" rtlCol="0" anchor="ctr"/>
          <a:lstStyle/>
          <a:p>
            <a:pPr marL="0" indent="0">
              <a:buNone/>
            </a:pPr>
            <a:r>
              <a:rPr lang="en-US" sz="1200" dirty="0">
                <a:solidFill>
                  <a:srgbClr val="50655A"/>
                </a:solidFill>
                <a:latin typeface="Calibri" pitchFamily="34" charset="0"/>
                <a:ea typeface="Calibri" pitchFamily="34" charset="-122"/>
                <a:cs typeface="Calibri" pitchFamily="34" charset="-120"/>
              </a:rPr>
              <a:t>Gothami  &amp;  female_1   ·   2,209 shared hours</a:t>
            </a:r>
            <a:endParaRPr lang="en-US" sz="1200" dirty="0"/>
          </a:p>
        </p:txBody>
      </p:sp>
      <p:sp>
        <p:nvSpPr>
          <p:cNvPr id="8" name="Text 6"/>
          <p:cNvSpPr/>
          <p:nvPr/>
        </p:nvSpPr>
        <p:spPr>
          <a:xfrm>
            <a:off x="640080" y="3657600"/>
            <a:ext cx="3566160" cy="274320"/>
          </a:xfrm>
          <a:prstGeom prst="rect">
            <a:avLst/>
          </a:prstGeom>
          <a:noFill/>
          <a:ln/>
        </p:spPr>
        <p:txBody>
          <a:bodyPr wrap="square" rtlCol="0" anchor="ctr"/>
          <a:lstStyle/>
          <a:p>
            <a:pPr marL="0" indent="0">
              <a:buNone/>
            </a:pPr>
            <a:r>
              <a:rPr lang="en-US" sz="1600" b="1" dirty="0">
                <a:solidFill>
                  <a:srgbClr val="50655A"/>
                </a:solidFill>
                <a:latin typeface="Calibri" pitchFamily="34" charset="0"/>
                <a:ea typeface="Calibri" pitchFamily="34" charset="-122"/>
                <a:cs typeface="Calibri" pitchFamily="34" charset="-120"/>
              </a:rPr>
              <a:t>MOST SHARED DATA, NO RELATIONSHIP</a:t>
            </a:r>
            <a:endParaRPr lang="en-US" sz="1600" dirty="0"/>
          </a:p>
        </p:txBody>
      </p:sp>
      <p:sp>
        <p:nvSpPr>
          <p:cNvPr id="9" name="Text 7"/>
          <p:cNvSpPr/>
          <p:nvPr/>
        </p:nvSpPr>
        <p:spPr>
          <a:xfrm>
            <a:off x="640080" y="3886200"/>
            <a:ext cx="3566160" cy="777240"/>
          </a:xfrm>
          <a:prstGeom prst="rect">
            <a:avLst/>
          </a:prstGeom>
          <a:noFill/>
          <a:ln/>
        </p:spPr>
        <p:txBody>
          <a:bodyPr wrap="square" rtlCol="0" anchor="ctr"/>
          <a:lstStyle/>
          <a:p>
            <a:pPr marL="0" indent="0">
              <a:buNone/>
            </a:pPr>
            <a:r>
              <a:rPr lang="en-US" sz="4400" b="1" dirty="0">
                <a:solidFill>
                  <a:srgbClr val="1B4332"/>
                </a:solidFill>
                <a:latin typeface="Georgia" pitchFamily="34" charset="0"/>
                <a:ea typeface="Georgia" pitchFamily="34" charset="-122"/>
                <a:cs typeface="Georgia" pitchFamily="34" charset="-120"/>
              </a:rPr>
              <a:t>0%</a:t>
            </a:r>
            <a:endParaRPr lang="en-US" sz="4400" dirty="0"/>
          </a:p>
        </p:txBody>
      </p:sp>
      <p:sp>
        <p:nvSpPr>
          <p:cNvPr id="10" name="Text 8"/>
          <p:cNvSpPr/>
          <p:nvPr/>
        </p:nvSpPr>
        <p:spPr>
          <a:xfrm>
            <a:off x="640080" y="4636008"/>
            <a:ext cx="3566160" cy="274320"/>
          </a:xfrm>
          <a:prstGeom prst="rect">
            <a:avLst/>
          </a:prstGeom>
          <a:noFill/>
          <a:ln/>
        </p:spPr>
        <p:txBody>
          <a:bodyPr wrap="square" rtlCol="0" anchor="ctr"/>
          <a:lstStyle/>
          <a:p>
            <a:pPr marL="0" indent="0">
              <a:buNone/>
            </a:pPr>
            <a:r>
              <a:rPr lang="en-US" sz="1600" dirty="0">
                <a:solidFill>
                  <a:srgbClr val="1F2A24"/>
                </a:solidFill>
                <a:latin typeface="Calibri" pitchFamily="34" charset="0"/>
                <a:ea typeface="Calibri" pitchFamily="34" charset="-122"/>
                <a:cs typeface="Calibri" pitchFamily="34" charset="-120"/>
              </a:rPr>
              <a:t>within 500 m, despite extensive tracking</a:t>
            </a:r>
            <a:endParaRPr lang="en-US" sz="1600" dirty="0"/>
          </a:p>
        </p:txBody>
      </p:sp>
      <p:sp>
        <p:nvSpPr>
          <p:cNvPr id="11" name="Text 9"/>
          <p:cNvSpPr/>
          <p:nvPr/>
        </p:nvSpPr>
        <p:spPr>
          <a:xfrm>
            <a:off x="640080" y="5039509"/>
            <a:ext cx="3566160" cy="274320"/>
          </a:xfrm>
          <a:prstGeom prst="rect">
            <a:avLst/>
          </a:prstGeom>
          <a:noFill/>
          <a:ln/>
        </p:spPr>
        <p:txBody>
          <a:bodyPr wrap="square" rtlCol="0" anchor="ctr"/>
          <a:lstStyle/>
          <a:p>
            <a:pPr marL="0" indent="0">
              <a:buNone/>
            </a:pPr>
            <a:r>
              <a:rPr lang="en-US" sz="1200" dirty="0">
                <a:solidFill>
                  <a:srgbClr val="50655A"/>
                </a:solidFill>
                <a:latin typeface="Calibri" pitchFamily="34" charset="0"/>
                <a:ea typeface="Calibri" pitchFamily="34" charset="-122"/>
                <a:cs typeface="Calibri" pitchFamily="34" charset="-120"/>
              </a:rPr>
              <a:t>Talatha  &amp;  recollared female   ·   443 shared hours</a:t>
            </a:r>
            <a:endParaRPr lang="en-US" sz="1200" dirty="0"/>
          </a:p>
        </p:txBody>
      </p:sp>
      <p:sp>
        <p:nvSpPr>
          <p:cNvPr id="12" name="Text 10"/>
          <p:cNvSpPr/>
          <p:nvPr/>
        </p:nvSpPr>
        <p:spPr>
          <a:xfrm>
            <a:off x="457200" y="5623560"/>
            <a:ext cx="3977640" cy="822960"/>
          </a:xfrm>
          <a:prstGeom prst="rect">
            <a:avLst/>
          </a:prstGeom>
          <a:noFill/>
          <a:ln/>
        </p:spPr>
        <p:txBody>
          <a:bodyPr wrap="square" rtlCol="0" anchor="ctr"/>
          <a:lstStyle/>
          <a:p>
            <a:pPr marL="0" indent="0">
              <a:buNone/>
            </a:pPr>
            <a:r>
              <a:rPr lang="en-US" sz="1000" i="1" dirty="0">
                <a:solidFill>
                  <a:srgbClr val="50655A"/>
                </a:solidFill>
                <a:latin typeface="Calibri" pitchFamily="34" charset="0"/>
                <a:ea typeface="Calibri" pitchFamily="34" charset="-122"/>
                <a:cs typeface="Calibri" pitchFamily="34" charset="-120"/>
              </a:rPr>
              <a:t>500 m threshold set from the real spread of distances observed between collared elephants, consistent with the proximity rule used in Wall et al. (2014).</a:t>
            </a:r>
            <a:endParaRPr lang="en-US" sz="1000" dirty="0"/>
          </a:p>
        </p:txBody>
      </p:sp>
      <p:sp>
        <p:nvSpPr>
          <p:cNvPr id="13" name="Shape 11"/>
          <p:cNvSpPr/>
          <p:nvPr/>
        </p:nvSpPr>
        <p:spPr>
          <a:xfrm>
            <a:off x="4572000" y="1459061"/>
            <a:ext cx="7223760" cy="3848437"/>
          </a:xfrm>
          <a:prstGeom prst="roundRect">
            <a:avLst>
              <a:gd name="adj" fmla="val 1188"/>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14" name="Image 0" descr="/home/claude/work/assets2/proximity_s2_1.png"/>
          <p:cNvPicPr>
            <a:picLocks noChangeAspect="1"/>
          </p:cNvPicPr>
          <p:nvPr/>
        </p:nvPicPr>
        <p:blipFill>
          <a:blip r:embed="rId3"/>
          <a:stretch>
            <a:fillRect/>
          </a:stretch>
        </p:blipFill>
        <p:spPr>
          <a:xfrm>
            <a:off x="4663440" y="1550501"/>
            <a:ext cx="7040880" cy="3665557"/>
          </a:xfrm>
          <a:prstGeom prst="rect">
            <a:avLst/>
          </a:prstGeom>
        </p:spPr>
      </p:pic>
      <p:sp>
        <p:nvSpPr>
          <p:cNvPr id="15" name="Text 12"/>
          <p:cNvSpPr/>
          <p:nvPr/>
        </p:nvSpPr>
        <p:spPr>
          <a:xfrm>
            <a:off x="4663440" y="5349240"/>
            <a:ext cx="7040880" cy="320040"/>
          </a:xfrm>
          <a:prstGeom prst="rect">
            <a:avLst/>
          </a:prstGeom>
          <a:noFill/>
          <a:ln/>
        </p:spPr>
        <p:txBody>
          <a:bodyPr wrap="square" rtlCol="0" anchor="ctr"/>
          <a:lstStyle/>
          <a:p>
            <a:pPr marL="0" indent="0">
              <a:buNone/>
            </a:pPr>
            <a:r>
              <a:rPr lang="en-US" sz="1050" i="1" dirty="0">
                <a:solidFill>
                  <a:srgbClr val="50655A"/>
                </a:solidFill>
                <a:latin typeface="Calibri" pitchFamily="34" charset="0"/>
                <a:ea typeface="Calibri" pitchFamily="34" charset="-122"/>
                <a:cs typeface="Calibri" pitchFamily="34" charset="-120"/>
              </a:rPr>
              <a:t>Relationships tab — colour shows % of shared hours spent within threshold; hover any cell for exact figures.</a:t>
            </a:r>
            <a:endParaRPr lang="en-US" sz="1050" dirty="0"/>
          </a:p>
        </p:txBody>
      </p:sp>
      <p:sp>
        <p:nvSpPr>
          <p:cNvPr id="16" name="Text 1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7" name="Text 1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8580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When Do They Split — And Where?</a:t>
            </a:r>
            <a:endParaRPr lang="en-US" sz="2600" dirty="0"/>
          </a:p>
        </p:txBody>
      </p:sp>
      <p:sp>
        <p:nvSpPr>
          <p:cNvPr id="3" name="Shape 1"/>
          <p:cNvSpPr/>
          <p:nvPr/>
        </p:nvSpPr>
        <p:spPr>
          <a:xfrm>
            <a:off x="457200" y="1234440"/>
            <a:ext cx="384048" cy="384048"/>
          </a:xfrm>
          <a:prstGeom prst="ellipse">
            <a:avLst/>
          </a:prstGeom>
          <a:solidFill>
            <a:srgbClr val="2D6A4F"/>
          </a:solidFill>
          <a:ln/>
        </p:spPr>
      </p:sp>
      <p:sp>
        <p:nvSpPr>
          <p:cNvPr id="4" name="Text 2"/>
          <p:cNvSpPr/>
          <p:nvPr/>
        </p:nvSpPr>
        <p:spPr>
          <a:xfrm>
            <a:off x="457200" y="123444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960120" y="1207008"/>
            <a:ext cx="3108960" cy="365760"/>
          </a:xfrm>
          <a:prstGeom prst="rect">
            <a:avLst/>
          </a:prstGeom>
          <a:noFill/>
          <a:ln/>
        </p:spPr>
        <p:txBody>
          <a:bodyPr wrap="square" rtlCol="0" anchor="ctr"/>
          <a:lstStyle/>
          <a:p>
            <a:pPr marL="0" indent="0">
              <a:buNone/>
            </a:pPr>
            <a:r>
              <a:rPr lang="en-US" sz="2000" b="1" dirty="0">
                <a:solidFill>
                  <a:srgbClr val="1B4332"/>
                </a:solidFill>
                <a:latin typeface="Calibri" pitchFamily="34" charset="0"/>
                <a:ea typeface="Calibri" pitchFamily="34" charset="-122"/>
                <a:cs typeface="Calibri" pitchFamily="34" charset="-120"/>
              </a:rPr>
              <a:t>Select &amp; set a threshold</a:t>
            </a:r>
            <a:endParaRPr lang="en-US" sz="2000" dirty="0"/>
          </a:p>
        </p:txBody>
      </p:sp>
      <p:sp>
        <p:nvSpPr>
          <p:cNvPr id="6" name="Text 4"/>
          <p:cNvSpPr/>
          <p:nvPr/>
        </p:nvSpPr>
        <p:spPr>
          <a:xfrm>
            <a:off x="457200" y="1691640"/>
            <a:ext cx="3611880" cy="640080"/>
          </a:xfrm>
          <a:prstGeom prst="rect">
            <a:avLst/>
          </a:prstGeom>
          <a:noFill/>
          <a:ln/>
        </p:spPr>
        <p:txBody>
          <a:bodyPr wrap="square" rtlCol="0" anchor="ctr"/>
          <a:lstStyle/>
          <a:p>
            <a:pPr marL="0" indent="0">
              <a:lnSpc>
                <a:spcPct val="115000"/>
              </a:lnSpc>
              <a:buNone/>
            </a:pPr>
            <a:r>
              <a:rPr lang="en-US" sz="1400" dirty="0">
                <a:solidFill>
                  <a:srgbClr val="1F2A24"/>
                </a:solidFill>
                <a:latin typeface="Calibri" pitchFamily="34" charset="0"/>
                <a:ea typeface="Calibri" pitchFamily="34" charset="-122"/>
                <a:cs typeface="Calibri" pitchFamily="34" charset="-120"/>
              </a:rPr>
              <a:t>Any two elephants; a distance (500 m) and minimum-hours-together threshold define “together.”</a:t>
            </a:r>
            <a:endParaRPr lang="en-US" sz="1400" dirty="0"/>
          </a:p>
        </p:txBody>
      </p:sp>
      <p:sp>
        <p:nvSpPr>
          <p:cNvPr id="7" name="Shape 5"/>
          <p:cNvSpPr/>
          <p:nvPr/>
        </p:nvSpPr>
        <p:spPr>
          <a:xfrm>
            <a:off x="4206240" y="1234440"/>
            <a:ext cx="384048" cy="384048"/>
          </a:xfrm>
          <a:prstGeom prst="ellipse">
            <a:avLst/>
          </a:prstGeom>
          <a:solidFill>
            <a:srgbClr val="2D6A4F"/>
          </a:solidFill>
          <a:ln/>
        </p:spPr>
      </p:sp>
      <p:sp>
        <p:nvSpPr>
          <p:cNvPr id="8" name="Text 6"/>
          <p:cNvSpPr/>
          <p:nvPr/>
        </p:nvSpPr>
        <p:spPr>
          <a:xfrm>
            <a:off x="4206240" y="123444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4709160" y="1207008"/>
            <a:ext cx="3108960" cy="365760"/>
          </a:xfrm>
          <a:prstGeom prst="rect">
            <a:avLst/>
          </a:prstGeom>
          <a:noFill/>
          <a:ln/>
        </p:spPr>
        <p:txBody>
          <a:bodyPr wrap="square" rtlCol="0" anchor="ctr"/>
          <a:lstStyle/>
          <a:p>
            <a:pPr marL="0" indent="0">
              <a:buNone/>
            </a:pPr>
            <a:r>
              <a:rPr lang="en-US" sz="2000" b="1" dirty="0">
                <a:solidFill>
                  <a:srgbClr val="1B4332"/>
                </a:solidFill>
                <a:latin typeface="Calibri" pitchFamily="34" charset="0"/>
                <a:ea typeface="Calibri" pitchFamily="34" charset="-122"/>
                <a:cs typeface="Calibri" pitchFamily="34" charset="-120"/>
              </a:rPr>
              <a:t>See every separation</a:t>
            </a:r>
            <a:endParaRPr lang="en-US" sz="2000" dirty="0"/>
          </a:p>
        </p:txBody>
      </p:sp>
      <p:sp>
        <p:nvSpPr>
          <p:cNvPr id="10" name="Text 8"/>
          <p:cNvSpPr/>
          <p:nvPr/>
        </p:nvSpPr>
        <p:spPr>
          <a:xfrm>
            <a:off x="4206240" y="1691640"/>
            <a:ext cx="3611880" cy="640080"/>
          </a:xfrm>
          <a:prstGeom prst="rect">
            <a:avLst/>
          </a:prstGeom>
          <a:noFill/>
          <a:ln/>
        </p:spPr>
        <p:txBody>
          <a:bodyPr wrap="square" rtlCol="0" anchor="ctr"/>
          <a:lstStyle/>
          <a:p>
            <a:pPr marL="0" indent="0">
              <a:lnSpc>
                <a:spcPct val="115000"/>
              </a:lnSpc>
              <a:buNone/>
            </a:pPr>
            <a:r>
              <a:rPr lang="en-US" sz="1400" dirty="0">
                <a:solidFill>
                  <a:srgbClr val="1F2A24"/>
                </a:solidFill>
                <a:latin typeface="Calibri" pitchFamily="34" charset="0"/>
                <a:ea typeface="Calibri" pitchFamily="34" charset="-122"/>
                <a:cs typeface="Calibri" pitchFamily="34" charset="-120"/>
              </a:rPr>
              <a:t>Every GPS fix is plotted — diamonds mark last-together, squares mark time apart — filterable by year, month, hour.</a:t>
            </a:r>
            <a:endParaRPr lang="en-US" sz="1400" dirty="0"/>
          </a:p>
        </p:txBody>
      </p:sp>
      <p:sp>
        <p:nvSpPr>
          <p:cNvPr id="11" name="Shape 9"/>
          <p:cNvSpPr/>
          <p:nvPr/>
        </p:nvSpPr>
        <p:spPr>
          <a:xfrm>
            <a:off x="7955280" y="1234440"/>
            <a:ext cx="384048" cy="384048"/>
          </a:xfrm>
          <a:prstGeom prst="ellipse">
            <a:avLst/>
          </a:prstGeom>
          <a:solidFill>
            <a:srgbClr val="2D6A4F"/>
          </a:solidFill>
          <a:ln/>
        </p:spPr>
      </p:sp>
      <p:sp>
        <p:nvSpPr>
          <p:cNvPr id="12" name="Text 10"/>
          <p:cNvSpPr/>
          <p:nvPr/>
        </p:nvSpPr>
        <p:spPr>
          <a:xfrm>
            <a:off x="7955280" y="123444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8458200" y="1207008"/>
            <a:ext cx="3108960" cy="365760"/>
          </a:xfrm>
          <a:prstGeom prst="rect">
            <a:avLst/>
          </a:prstGeom>
          <a:noFill/>
          <a:ln/>
        </p:spPr>
        <p:txBody>
          <a:bodyPr wrap="square" rtlCol="0" anchor="ctr"/>
          <a:lstStyle/>
          <a:p>
            <a:pPr marL="0" indent="0">
              <a:buNone/>
            </a:pPr>
            <a:r>
              <a:rPr lang="en-US" sz="2000" b="1" dirty="0">
                <a:solidFill>
                  <a:srgbClr val="1B4332"/>
                </a:solidFill>
                <a:latin typeface="Calibri" pitchFamily="34" charset="0"/>
                <a:ea typeface="Calibri" pitchFamily="34" charset="-122"/>
                <a:cs typeface="Calibri" pitchFamily="34" charset="-120"/>
              </a:rPr>
              <a:t>Inspect one event</a:t>
            </a:r>
            <a:endParaRPr lang="en-US" sz="2000" dirty="0"/>
          </a:p>
        </p:txBody>
      </p:sp>
      <p:sp>
        <p:nvSpPr>
          <p:cNvPr id="14" name="Text 12"/>
          <p:cNvSpPr/>
          <p:nvPr/>
        </p:nvSpPr>
        <p:spPr>
          <a:xfrm>
            <a:off x="7955280" y="1691640"/>
            <a:ext cx="3611880" cy="640080"/>
          </a:xfrm>
          <a:prstGeom prst="rect">
            <a:avLst/>
          </a:prstGeom>
          <a:noFill/>
          <a:ln/>
        </p:spPr>
        <p:txBody>
          <a:bodyPr wrap="square" rtlCol="0" anchor="ctr"/>
          <a:lstStyle/>
          <a:p>
            <a:pPr marL="0" indent="0">
              <a:lnSpc>
                <a:spcPct val="115000"/>
              </a:lnSpc>
              <a:buNone/>
            </a:pPr>
            <a:r>
              <a:rPr lang="en-US" sz="1400" dirty="0">
                <a:solidFill>
                  <a:srgbClr val="1F2A24"/>
                </a:solidFill>
                <a:latin typeface="Calibri" pitchFamily="34" charset="0"/>
                <a:ea typeface="Calibri" pitchFamily="34" charset="-122"/>
                <a:cs typeface="Calibri" pitchFamily="34" charset="-120"/>
              </a:rPr>
              <a:t>Click a flagged point, or jump to any listed separation by timestamp, to isolate exactly when and where.</a:t>
            </a:r>
            <a:endParaRPr lang="en-US" sz="1400" dirty="0"/>
          </a:p>
        </p:txBody>
      </p:sp>
      <p:sp>
        <p:nvSpPr>
          <p:cNvPr id="15" name="Shape 13"/>
          <p:cNvSpPr/>
          <p:nvPr/>
        </p:nvSpPr>
        <p:spPr>
          <a:xfrm>
            <a:off x="365760" y="2449220"/>
            <a:ext cx="5532120" cy="3422601"/>
          </a:xfrm>
          <a:prstGeom prst="roundRect">
            <a:avLst>
              <a:gd name="adj" fmla="val 1336"/>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16" name="Image 0" descr="/home/claude/work/assets2/proximity_s3_1.png"/>
          <p:cNvPicPr>
            <a:picLocks noChangeAspect="1"/>
          </p:cNvPicPr>
          <p:nvPr/>
        </p:nvPicPr>
        <p:blipFill>
          <a:blip r:embed="rId3"/>
          <a:stretch>
            <a:fillRect/>
          </a:stretch>
        </p:blipFill>
        <p:spPr>
          <a:xfrm>
            <a:off x="457200" y="2540660"/>
            <a:ext cx="5349240" cy="3239721"/>
          </a:xfrm>
          <a:prstGeom prst="rect">
            <a:avLst/>
          </a:prstGeom>
        </p:spPr>
      </p:pic>
      <p:sp>
        <p:nvSpPr>
          <p:cNvPr id="17" name="Text 14"/>
          <p:cNvSpPr/>
          <p:nvPr/>
        </p:nvSpPr>
        <p:spPr>
          <a:xfrm>
            <a:off x="429768" y="5989320"/>
            <a:ext cx="5486400" cy="457200"/>
          </a:xfrm>
          <a:prstGeom prst="rect">
            <a:avLst/>
          </a:prstGeom>
          <a:noFill/>
          <a:ln/>
        </p:spPr>
        <p:txBody>
          <a:bodyPr wrap="square" rtlCol="0" anchor="ctr"/>
          <a:lstStyle/>
          <a:p>
            <a:pPr marL="0" indent="0">
              <a:buNone/>
            </a:pPr>
            <a:r>
              <a:rPr lang="en-US" sz="1000" i="1" dirty="0">
                <a:solidFill>
                  <a:srgbClr val="50655A"/>
                </a:solidFill>
                <a:latin typeface="Calibri" pitchFamily="34" charset="0"/>
                <a:ea typeface="Calibri" pitchFamily="34" charset="-122"/>
                <a:cs typeface="Calibri" pitchFamily="34" charset="-120"/>
              </a:rPr>
              <a:t>Full separation history for the pair — every flagged point is clickable; filters apply by year, month, and hour.</a:t>
            </a:r>
            <a:endParaRPr lang="en-US" sz="1000" dirty="0"/>
          </a:p>
        </p:txBody>
      </p:sp>
      <p:sp>
        <p:nvSpPr>
          <p:cNvPr id="18" name="Shape 15"/>
          <p:cNvSpPr/>
          <p:nvPr/>
        </p:nvSpPr>
        <p:spPr>
          <a:xfrm>
            <a:off x="6224721" y="2423160"/>
            <a:ext cx="5564238" cy="2926080"/>
          </a:xfrm>
          <a:prstGeom prst="roundRect">
            <a:avLst>
              <a:gd name="adj" fmla="val 1563"/>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19" name="Image 1" descr="/home/claude/work/assets2/proximity_s3_2.png"/>
          <p:cNvPicPr>
            <a:picLocks noChangeAspect="1"/>
          </p:cNvPicPr>
          <p:nvPr/>
        </p:nvPicPr>
        <p:blipFill>
          <a:blip r:embed="rId4"/>
          <a:stretch>
            <a:fillRect/>
          </a:stretch>
        </p:blipFill>
        <p:spPr>
          <a:xfrm>
            <a:off x="6316161" y="2514600"/>
            <a:ext cx="5381358" cy="2743200"/>
          </a:xfrm>
          <a:prstGeom prst="rect">
            <a:avLst/>
          </a:prstGeom>
        </p:spPr>
      </p:pic>
      <p:sp>
        <p:nvSpPr>
          <p:cNvPr id="20" name="Text 16"/>
          <p:cNvSpPr/>
          <p:nvPr/>
        </p:nvSpPr>
        <p:spPr>
          <a:xfrm>
            <a:off x="6245352" y="5422392"/>
            <a:ext cx="1737360" cy="27432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2 of 5</a:t>
            </a:r>
            <a:endParaRPr lang="en-US" sz="1400" dirty="0"/>
          </a:p>
        </p:txBody>
      </p:sp>
      <p:sp>
        <p:nvSpPr>
          <p:cNvPr id="21" name="Text 17"/>
          <p:cNvSpPr/>
          <p:nvPr/>
        </p:nvSpPr>
        <p:spPr>
          <a:xfrm>
            <a:off x="6245352" y="5687568"/>
            <a:ext cx="1737360" cy="182880"/>
          </a:xfrm>
          <a:prstGeom prst="rect">
            <a:avLst/>
          </a:prstGeom>
          <a:noFill/>
          <a:ln/>
        </p:spPr>
        <p:txBody>
          <a:bodyPr wrap="square" rtlCol="0" anchor="ctr"/>
          <a:lstStyle/>
          <a:p>
            <a:pPr marL="0" indent="0">
              <a:buNone/>
            </a:pPr>
            <a:r>
              <a:rPr lang="en-US" sz="850" dirty="0">
                <a:solidFill>
                  <a:srgbClr val="50655A"/>
                </a:solidFill>
                <a:latin typeface="Calibri" pitchFamily="34" charset="0"/>
                <a:ea typeface="Calibri" pitchFamily="34" charset="-122"/>
                <a:cs typeface="Calibri" pitchFamily="34" charset="-120"/>
              </a:rPr>
              <a:t>separation</a:t>
            </a:r>
            <a:endParaRPr lang="en-US" sz="850" dirty="0"/>
          </a:p>
        </p:txBody>
      </p:sp>
      <p:sp>
        <p:nvSpPr>
          <p:cNvPr id="22" name="Text 18"/>
          <p:cNvSpPr/>
          <p:nvPr/>
        </p:nvSpPr>
        <p:spPr>
          <a:xfrm>
            <a:off x="8101584" y="5422392"/>
            <a:ext cx="1737360" cy="27432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1 hr</a:t>
            </a:r>
            <a:endParaRPr lang="en-US" sz="1400" dirty="0"/>
          </a:p>
        </p:txBody>
      </p:sp>
      <p:sp>
        <p:nvSpPr>
          <p:cNvPr id="23" name="Text 19"/>
          <p:cNvSpPr/>
          <p:nvPr/>
        </p:nvSpPr>
        <p:spPr>
          <a:xfrm>
            <a:off x="8101584" y="5687568"/>
            <a:ext cx="1737360" cy="182880"/>
          </a:xfrm>
          <a:prstGeom prst="rect">
            <a:avLst/>
          </a:prstGeom>
          <a:noFill/>
          <a:ln/>
        </p:spPr>
        <p:txBody>
          <a:bodyPr wrap="square" rtlCol="0" anchor="ctr"/>
          <a:lstStyle/>
          <a:p>
            <a:pPr marL="0" indent="0">
              <a:buNone/>
            </a:pPr>
            <a:r>
              <a:rPr lang="en-US" sz="850" dirty="0">
                <a:solidFill>
                  <a:srgbClr val="50655A"/>
                </a:solidFill>
                <a:latin typeface="Calibri" pitchFamily="34" charset="0"/>
                <a:ea typeface="Calibri" pitchFamily="34" charset="-122"/>
                <a:cs typeface="Calibri" pitchFamily="34" charset="-120"/>
              </a:rPr>
              <a:t>after split</a:t>
            </a:r>
            <a:endParaRPr lang="en-US" sz="850" dirty="0"/>
          </a:p>
        </p:txBody>
      </p:sp>
      <p:sp>
        <p:nvSpPr>
          <p:cNvPr id="24" name="Text 20"/>
          <p:cNvSpPr/>
          <p:nvPr/>
        </p:nvSpPr>
        <p:spPr>
          <a:xfrm>
            <a:off x="9957816" y="5422392"/>
            <a:ext cx="1737360" cy="274320"/>
          </a:xfrm>
          <a:prstGeom prst="rect">
            <a:avLst/>
          </a:prstGeom>
          <a:noFill/>
          <a:ln/>
        </p:spPr>
        <p:txBody>
          <a:bodyPr wrap="square" rtlCol="0" anchor="ctr"/>
          <a:lstStyle/>
          <a:p>
            <a:pPr marL="0" indent="0">
              <a:buNone/>
            </a:pPr>
            <a:r>
              <a:rPr lang="en-US" sz="1400" b="1" dirty="0">
                <a:solidFill>
                  <a:srgbClr val="1B4332"/>
                </a:solidFill>
                <a:latin typeface="Calibri" pitchFamily="34" charset="0"/>
                <a:ea typeface="Calibri" pitchFamily="34" charset="-122"/>
                <a:cs typeface="Calibri" pitchFamily="34" charset="-120"/>
              </a:rPr>
              <a:t>531 m</a:t>
            </a:r>
            <a:endParaRPr lang="en-US" sz="1400" dirty="0"/>
          </a:p>
        </p:txBody>
      </p:sp>
      <p:sp>
        <p:nvSpPr>
          <p:cNvPr id="25" name="Text 21"/>
          <p:cNvSpPr/>
          <p:nvPr/>
        </p:nvSpPr>
        <p:spPr>
          <a:xfrm>
            <a:off x="9957816" y="5687568"/>
            <a:ext cx="1737360" cy="182880"/>
          </a:xfrm>
          <a:prstGeom prst="rect">
            <a:avLst/>
          </a:prstGeom>
          <a:noFill/>
          <a:ln/>
        </p:spPr>
        <p:txBody>
          <a:bodyPr wrap="square" rtlCol="0" anchor="ctr"/>
          <a:lstStyle/>
          <a:p>
            <a:pPr marL="0" indent="0">
              <a:buNone/>
            </a:pPr>
            <a:r>
              <a:rPr lang="en-US" sz="850" dirty="0">
                <a:solidFill>
                  <a:srgbClr val="50655A"/>
                </a:solidFill>
                <a:latin typeface="Calibri" pitchFamily="34" charset="0"/>
                <a:ea typeface="Calibri" pitchFamily="34" charset="-122"/>
                <a:cs typeface="Calibri" pitchFamily="34" charset="-120"/>
              </a:rPr>
              <a:t>apart</a:t>
            </a:r>
            <a:endParaRPr lang="en-US" sz="850" dirty="0"/>
          </a:p>
        </p:txBody>
      </p:sp>
      <p:sp>
        <p:nvSpPr>
          <p:cNvPr id="26" name="Text 22"/>
          <p:cNvSpPr/>
          <p:nvPr/>
        </p:nvSpPr>
        <p:spPr>
          <a:xfrm>
            <a:off x="6245352" y="5998464"/>
            <a:ext cx="5486400" cy="457200"/>
          </a:xfrm>
          <a:prstGeom prst="rect">
            <a:avLst/>
          </a:prstGeom>
          <a:noFill/>
          <a:ln/>
        </p:spPr>
        <p:txBody>
          <a:bodyPr wrap="square" rtlCol="0" anchor="ctr"/>
          <a:lstStyle/>
          <a:p>
            <a:pPr marL="0" indent="0">
              <a:buNone/>
            </a:pPr>
            <a:r>
              <a:rPr lang="en-US" sz="1000" i="1" dirty="0">
                <a:solidFill>
                  <a:srgbClr val="50655A"/>
                </a:solidFill>
                <a:latin typeface="Calibri" pitchFamily="34" charset="0"/>
                <a:ea typeface="Calibri" pitchFamily="34" charset="-122"/>
                <a:cs typeface="Calibri" pitchFamily="34" charset="-120"/>
              </a:rPr>
              <a:t>Clicking narrows the map to a single event: exact timestamp, elapsed time, and distance between the pair.</a:t>
            </a:r>
            <a:endParaRPr lang="en-US" sz="1000" dirty="0"/>
          </a:p>
        </p:txBody>
      </p:sp>
      <p:sp>
        <p:nvSpPr>
          <p:cNvPr id="27" name="Text 23"/>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28" name="Text 24"/>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FFFFFF">
              <a:alpha val="8000"/>
            </a:srgbClr>
          </a:solidFill>
          <a:ln/>
        </p:spPr>
      </p:sp>
      <p:sp>
        <p:nvSpPr>
          <p:cNvPr id="3" name="Shape 1"/>
          <p:cNvSpPr/>
          <p:nvPr/>
        </p:nvSpPr>
        <p:spPr>
          <a:xfrm>
            <a:off x="-1280160" y="4206240"/>
            <a:ext cx="3291840" cy="3291840"/>
          </a:xfrm>
          <a:prstGeom prst="ellipse">
            <a:avLst/>
          </a:prstGeom>
          <a:solidFill>
            <a:srgbClr val="FFFFFF">
              <a:alpha val="6000"/>
            </a:srgbClr>
          </a:solidFill>
          <a:ln/>
        </p:spPr>
      </p:sp>
      <p:sp>
        <p:nvSpPr>
          <p:cNvPr id="4" name="Text 2"/>
          <p:cNvSpPr/>
          <p:nvPr/>
        </p:nvSpPr>
        <p:spPr>
          <a:xfrm>
            <a:off x="822960" y="2834640"/>
            <a:ext cx="10515600" cy="822960"/>
          </a:xfrm>
          <a:prstGeom prst="rect">
            <a:avLst/>
          </a:prstGeom>
          <a:noFill/>
          <a:ln/>
        </p:spPr>
        <p:txBody>
          <a:bodyPr wrap="square" rtlCol="0" anchor="ctr"/>
          <a:lstStyle/>
          <a:p>
            <a:pPr marL="0" indent="0">
              <a:buNone/>
            </a:pPr>
            <a:r>
              <a:rPr lang="en-US" sz="3600" dirty="0">
                <a:solidFill>
                  <a:srgbClr val="FFFFFF"/>
                </a:solidFill>
                <a:latin typeface="Georgia" pitchFamily="34" charset="0"/>
                <a:ea typeface="Georgia" pitchFamily="34" charset="-122"/>
                <a:cs typeface="Georgia" pitchFamily="34" charset="-120"/>
              </a:rPr>
              <a:t>Revisit Anomaly Detection</a:t>
            </a:r>
            <a:endParaRPr lang="en-US" sz="3600" dirty="0"/>
          </a:p>
        </p:txBody>
      </p:sp>
      <p:sp>
        <p:nvSpPr>
          <p:cNvPr id="5" name="Text 3"/>
          <p:cNvSpPr/>
          <p:nvPr/>
        </p:nvSpPr>
        <p:spPr>
          <a:xfrm>
            <a:off x="822960" y="3749040"/>
            <a:ext cx="10515600" cy="457200"/>
          </a:xfrm>
          <a:prstGeom prst="rect">
            <a:avLst/>
          </a:prstGeom>
          <a:noFill/>
          <a:ln/>
        </p:spPr>
        <p:txBody>
          <a:bodyPr wrap="square" rtlCol="0" anchor="ctr"/>
          <a:lstStyle/>
          <a:p>
            <a:pPr marL="0" indent="0">
              <a:buNone/>
            </a:pPr>
            <a:r>
              <a:rPr lang="en-US" sz="1700" dirty="0">
                <a:solidFill>
                  <a:srgbClr val="D7E9DE"/>
                </a:solidFill>
                <a:latin typeface="Calibri" pitchFamily="34" charset="0"/>
                <a:ea typeface="Calibri" pitchFamily="34" charset="-122"/>
                <a:cs typeface="Calibri" pitchFamily="34" charset="-120"/>
              </a:rPr>
              <a:t>How often does each elephant come back to the same place?</a:t>
            </a:r>
            <a:endParaRPr lang="en-US" sz="1700" dirty="0"/>
          </a:p>
        </p:txBody>
      </p:sp>
      <p:sp>
        <p:nvSpPr>
          <p:cNvPr id="6" name="Text 4"/>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7" name="Text 5"/>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Some elephants keep returning to the same few spots</a:t>
            </a:r>
            <a:endParaRPr lang="en-US" sz="2400" dirty="0"/>
          </a:p>
        </p:txBody>
      </p:sp>
      <p:sp>
        <p:nvSpPr>
          <p:cNvPr id="3" name="Text 1"/>
          <p:cNvSpPr/>
          <p:nvPr/>
        </p:nvSpPr>
        <p:spPr>
          <a:xfrm>
            <a:off x="548640" y="1531866"/>
            <a:ext cx="4114800" cy="2286000"/>
          </a:xfrm>
          <a:prstGeom prst="rect">
            <a:avLst/>
          </a:prstGeom>
          <a:noFill/>
          <a:ln/>
        </p:spPr>
        <p:txBody>
          <a:bodyPr wrap="square" rtlCol="0" anchor="t"/>
          <a:lstStyle/>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Tracking data shows most locations are visited only once — but a small number of 150-metre spots get used again and again. These aren't random points on the map. They're the places an elephant relies on, most likely water, shade, or reliable forage. The darkest-colored spots on the map are candidate priority sites for habitat protection.</a:t>
            </a:r>
            <a:endParaRPr lang="en-US" dirty="0"/>
          </a:p>
        </p:txBody>
      </p:sp>
      <p:sp>
        <p:nvSpPr>
          <p:cNvPr id="4" name="Text 2"/>
          <p:cNvSpPr/>
          <p:nvPr/>
        </p:nvSpPr>
        <p:spPr>
          <a:xfrm>
            <a:off x="487680" y="4741364"/>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31 visits</a:t>
            </a:r>
            <a:endParaRPr lang="en-US" sz="2600" dirty="0"/>
          </a:p>
        </p:txBody>
      </p:sp>
      <p:sp>
        <p:nvSpPr>
          <p:cNvPr id="5" name="Text 3"/>
          <p:cNvSpPr/>
          <p:nvPr/>
        </p:nvSpPr>
        <p:spPr>
          <a:xfrm>
            <a:off x="487680" y="5216852"/>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Gothami's top spot, over 445 days</a:t>
            </a:r>
            <a:endParaRPr lang="en-US" sz="1050" dirty="0"/>
          </a:p>
        </p:txBody>
      </p:sp>
      <p:sp>
        <p:nvSpPr>
          <p:cNvPr id="6" name="Text 4"/>
          <p:cNvSpPr/>
          <p:nvPr/>
        </p:nvSpPr>
        <p:spPr>
          <a:xfrm>
            <a:off x="2545080" y="4741364"/>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Only 4%</a:t>
            </a:r>
            <a:endParaRPr lang="en-US" sz="2600" dirty="0"/>
          </a:p>
        </p:txBody>
      </p:sp>
      <p:sp>
        <p:nvSpPr>
          <p:cNvPr id="7" name="Text 5"/>
          <p:cNvSpPr/>
          <p:nvPr/>
        </p:nvSpPr>
        <p:spPr>
          <a:xfrm>
            <a:off x="2545080" y="5216852"/>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of Gothami's locations were one-time-only</a:t>
            </a:r>
            <a:endParaRPr lang="en-US" sz="1050" dirty="0"/>
          </a:p>
        </p:txBody>
      </p:sp>
      <p:sp>
        <p:nvSpPr>
          <p:cNvPr id="8" name="Shape 6"/>
          <p:cNvSpPr/>
          <p:nvPr/>
        </p:nvSpPr>
        <p:spPr>
          <a:xfrm>
            <a:off x="4754880" y="2056907"/>
            <a:ext cx="7040880" cy="3567145"/>
          </a:xfrm>
          <a:prstGeom prst="roundRect">
            <a:avLst>
              <a:gd name="adj" fmla="val 1282"/>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9" name="Image 0" descr="/home/claude/work/assets2/revisit_s2_1.png"/>
          <p:cNvPicPr>
            <a:picLocks noChangeAspect="1"/>
          </p:cNvPicPr>
          <p:nvPr/>
        </p:nvPicPr>
        <p:blipFill>
          <a:blip r:embed="rId3"/>
          <a:stretch>
            <a:fillRect/>
          </a:stretch>
        </p:blipFill>
        <p:spPr>
          <a:xfrm>
            <a:off x="4846320" y="2148347"/>
            <a:ext cx="6858000" cy="3384265"/>
          </a:xfrm>
          <a:prstGeom prst="rect">
            <a:avLst/>
          </a:prstGeom>
        </p:spPr>
      </p:pic>
      <p:sp>
        <p:nvSpPr>
          <p:cNvPr id="10" name="Text 7"/>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8"/>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Recollared female's core area breaks from the shoreline pattern</a:t>
            </a:r>
            <a:endParaRPr lang="en-US" sz="2400" dirty="0"/>
          </a:p>
        </p:txBody>
      </p:sp>
      <p:sp>
        <p:nvSpPr>
          <p:cNvPr id="3" name="Text 1"/>
          <p:cNvSpPr/>
          <p:nvPr/>
        </p:nvSpPr>
        <p:spPr>
          <a:xfrm>
            <a:off x="548640" y="1417320"/>
            <a:ext cx="4114800" cy="2286000"/>
          </a:xfrm>
          <a:prstGeom prst="rect">
            <a:avLst/>
          </a:prstGeom>
          <a:noFill/>
          <a:ln/>
        </p:spPr>
        <p:txBody>
          <a:bodyPr wrap="square" rtlCol="0" anchor="t"/>
          <a:lstStyle/>
          <a:p>
            <a:pPr marL="0" indent="0" algn="l">
              <a:lnSpc>
                <a:spcPct val="125000"/>
              </a:lnSpc>
              <a:buNone/>
            </a:pPr>
            <a:r>
              <a:rPr lang="en-US" dirty="0">
                <a:solidFill>
                  <a:srgbClr val="1F2A24"/>
                </a:solidFill>
                <a:latin typeface="Calibri" pitchFamily="34" charset="0"/>
                <a:ea typeface="Calibri" pitchFamily="34" charset="-122"/>
                <a:cs typeface="Calibri" pitchFamily="34" charset="-120"/>
              </a:rPr>
              <a:t>Gothami and female_1's hotspots all trace the reservoir's edge — every dark cluster sits right on the shoreline. Recollared female is different: her main hotspot cluster sits well inland, north of the reservoir.</a:t>
            </a:r>
            <a:endParaRPr lang="en-US" dirty="0"/>
          </a:p>
        </p:txBody>
      </p:sp>
      <p:sp>
        <p:nvSpPr>
          <p:cNvPr id="4" name="Text 2"/>
          <p:cNvSpPr/>
          <p:nvPr/>
        </p:nvSpPr>
        <p:spPr>
          <a:xfrm>
            <a:off x="548640" y="4160520"/>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Up to 22</a:t>
            </a:r>
            <a:endParaRPr lang="en-US" sz="2600" dirty="0"/>
          </a:p>
        </p:txBody>
      </p:sp>
      <p:sp>
        <p:nvSpPr>
          <p:cNvPr id="5" name="Text 3"/>
          <p:cNvSpPr/>
          <p:nvPr/>
        </p:nvSpPr>
        <p:spPr>
          <a:xfrm>
            <a:off x="548640" y="4636008"/>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visits at the inland cluster</a:t>
            </a:r>
            <a:endParaRPr lang="en-US" sz="1050" dirty="0"/>
          </a:p>
        </p:txBody>
      </p:sp>
      <p:sp>
        <p:nvSpPr>
          <p:cNvPr id="6" name="Text 4"/>
          <p:cNvSpPr/>
          <p:nvPr/>
        </p:nvSpPr>
        <p:spPr>
          <a:xfrm>
            <a:off x="2606040" y="4160520"/>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~8 km</a:t>
            </a:r>
            <a:endParaRPr lang="en-US" sz="2600" dirty="0"/>
          </a:p>
        </p:txBody>
      </p:sp>
      <p:sp>
        <p:nvSpPr>
          <p:cNvPr id="7" name="Text 5"/>
          <p:cNvSpPr/>
          <p:nvPr/>
        </p:nvSpPr>
        <p:spPr>
          <a:xfrm>
            <a:off x="2606040" y="4636008"/>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north of the reservoir shoreline</a:t>
            </a:r>
            <a:endParaRPr lang="en-US" sz="1050" dirty="0"/>
          </a:p>
        </p:txBody>
      </p:sp>
      <p:sp>
        <p:nvSpPr>
          <p:cNvPr id="8" name="Shape 6"/>
          <p:cNvSpPr/>
          <p:nvPr/>
        </p:nvSpPr>
        <p:spPr>
          <a:xfrm>
            <a:off x="4754880" y="2055032"/>
            <a:ext cx="7040880" cy="3570896"/>
          </a:xfrm>
          <a:prstGeom prst="roundRect">
            <a:avLst>
              <a:gd name="adj" fmla="val 1280"/>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9" name="Image 0" descr="/home/claude/work/assets2/revisit_s3_1.png"/>
          <p:cNvPicPr>
            <a:picLocks noChangeAspect="1"/>
          </p:cNvPicPr>
          <p:nvPr/>
        </p:nvPicPr>
        <p:blipFill>
          <a:blip r:embed="rId3"/>
          <a:stretch>
            <a:fillRect/>
          </a:stretch>
        </p:blipFill>
        <p:spPr>
          <a:xfrm>
            <a:off x="4846320" y="2146472"/>
            <a:ext cx="6858000" cy="3388016"/>
          </a:xfrm>
          <a:prstGeom prst="rect">
            <a:avLst/>
          </a:prstGeom>
        </p:spPr>
      </p:pic>
      <p:sp>
        <p:nvSpPr>
          <p:cNvPr id="10" name="Text 7"/>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8"/>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85800"/>
          </a:xfrm>
          <a:prstGeom prst="rect">
            <a:avLst/>
          </a:prstGeom>
          <a:noFill/>
          <a:ln/>
        </p:spPr>
        <p:txBody>
          <a:bodyPr wrap="square" rtlCol="0" anchor="ctr"/>
          <a:lstStyle/>
          <a:p>
            <a:pPr marL="0" indent="0">
              <a:buNone/>
            </a:pPr>
            <a:r>
              <a:rPr lang="en-US" sz="2400" b="1" dirty="0">
                <a:solidFill>
                  <a:srgbClr val="1B4332"/>
                </a:solidFill>
                <a:latin typeface="Georgia" pitchFamily="34" charset="0"/>
                <a:ea typeface="Georgia" pitchFamily="34" charset="-122"/>
                <a:cs typeface="Georgia" pitchFamily="34" charset="-120"/>
              </a:rPr>
              <a:t>The movements of some elephants are exploratory</a:t>
            </a:r>
            <a:endParaRPr lang="en-US" sz="2400" dirty="0"/>
          </a:p>
        </p:txBody>
      </p:sp>
      <p:sp>
        <p:nvSpPr>
          <p:cNvPr id="3" name="Text 1"/>
          <p:cNvSpPr/>
          <p:nvPr/>
        </p:nvSpPr>
        <p:spPr>
          <a:xfrm>
            <a:off x="548640" y="1417320"/>
            <a:ext cx="4114800" cy="2286000"/>
          </a:xfrm>
          <a:prstGeom prst="rect">
            <a:avLst/>
          </a:prstGeom>
          <a:noFill/>
          <a:ln/>
        </p:spPr>
        <p:txBody>
          <a:bodyPr wrap="square" rtlCol="0" anchor="t"/>
          <a:lstStyle/>
          <a:p>
            <a:pPr marL="0" indent="0" algn="l">
              <a:lnSpc>
                <a:spcPct val="125000"/>
              </a:lnSpc>
              <a:buNone/>
            </a:pPr>
            <a:r>
              <a:rPr lang="en-US" sz="2000" dirty="0">
                <a:solidFill>
                  <a:srgbClr val="1F2A24"/>
                </a:solidFill>
                <a:latin typeface="Calibri" pitchFamily="34" charset="0"/>
                <a:ea typeface="Calibri" pitchFamily="34" charset="-122"/>
                <a:cs typeface="Calibri" pitchFamily="34" charset="-120"/>
              </a:rPr>
              <a:t>Not every elephant sticks close to home. Rahu's tracking shows about 41% of its locations were never revisited — a sign of long-distance or exploratory movement.</a:t>
            </a:r>
            <a:endParaRPr lang="en-US" sz="2000" dirty="0"/>
          </a:p>
        </p:txBody>
      </p:sp>
      <p:sp>
        <p:nvSpPr>
          <p:cNvPr id="4" name="Text 2"/>
          <p:cNvSpPr/>
          <p:nvPr/>
        </p:nvSpPr>
        <p:spPr>
          <a:xfrm>
            <a:off x="548640" y="4160520"/>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~41%</a:t>
            </a:r>
            <a:endParaRPr lang="en-US" sz="2600" dirty="0"/>
          </a:p>
        </p:txBody>
      </p:sp>
      <p:sp>
        <p:nvSpPr>
          <p:cNvPr id="5" name="Text 3"/>
          <p:cNvSpPr/>
          <p:nvPr/>
        </p:nvSpPr>
        <p:spPr>
          <a:xfrm>
            <a:off x="548640" y="4636008"/>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of Rahu's locations, one-time-only</a:t>
            </a:r>
            <a:endParaRPr lang="en-US" sz="1050" dirty="0"/>
          </a:p>
        </p:txBody>
      </p:sp>
      <p:sp>
        <p:nvSpPr>
          <p:cNvPr id="6" name="Text 4"/>
          <p:cNvSpPr/>
          <p:nvPr/>
        </p:nvSpPr>
        <p:spPr>
          <a:xfrm>
            <a:off x="2606040" y="4160520"/>
            <a:ext cx="1874520" cy="502920"/>
          </a:xfrm>
          <a:prstGeom prst="rect">
            <a:avLst/>
          </a:prstGeom>
          <a:noFill/>
          <a:ln/>
        </p:spPr>
        <p:txBody>
          <a:bodyPr wrap="square" rtlCol="0" anchor="ctr"/>
          <a:lstStyle/>
          <a:p>
            <a:pPr marL="0" indent="0">
              <a:buNone/>
            </a:pPr>
            <a:r>
              <a:rPr lang="en-US" sz="2600" b="1" dirty="0">
                <a:solidFill>
                  <a:srgbClr val="1B4332"/>
                </a:solidFill>
                <a:latin typeface="Georgia" pitchFamily="34" charset="0"/>
                <a:ea typeface="Georgia" pitchFamily="34" charset="-122"/>
                <a:cs typeface="Georgia" pitchFamily="34" charset="-120"/>
              </a:rPr>
              <a:t>24 days</a:t>
            </a:r>
            <a:endParaRPr lang="en-US" sz="2600" dirty="0"/>
          </a:p>
        </p:txBody>
      </p:sp>
      <p:sp>
        <p:nvSpPr>
          <p:cNvPr id="7" name="Text 5"/>
          <p:cNvSpPr/>
          <p:nvPr/>
        </p:nvSpPr>
        <p:spPr>
          <a:xfrm>
            <a:off x="2606040" y="4636008"/>
            <a:ext cx="1874520" cy="411480"/>
          </a:xfrm>
          <a:prstGeom prst="rect">
            <a:avLst/>
          </a:prstGeom>
          <a:noFill/>
          <a:ln/>
        </p:spPr>
        <p:txBody>
          <a:bodyPr wrap="square" rtlCol="0" anchor="ctr"/>
          <a:lstStyle/>
          <a:p>
            <a:pPr marL="0" indent="0">
              <a:buNone/>
            </a:pPr>
            <a:r>
              <a:rPr lang="en-US" sz="1050" dirty="0">
                <a:solidFill>
                  <a:srgbClr val="50655A"/>
                </a:solidFill>
                <a:latin typeface="Calibri" pitchFamily="34" charset="0"/>
                <a:ea typeface="Calibri" pitchFamily="34" charset="-122"/>
                <a:cs typeface="Calibri" pitchFamily="34" charset="-120"/>
              </a:rPr>
              <a:t>tracked — read as a snapshot, not a settled pattern</a:t>
            </a:r>
            <a:endParaRPr lang="en-US" sz="1050" dirty="0"/>
          </a:p>
        </p:txBody>
      </p:sp>
      <p:sp>
        <p:nvSpPr>
          <p:cNvPr id="8" name="Shape 6"/>
          <p:cNvSpPr/>
          <p:nvPr/>
        </p:nvSpPr>
        <p:spPr>
          <a:xfrm>
            <a:off x="4754880" y="2066742"/>
            <a:ext cx="7040880" cy="3547476"/>
          </a:xfrm>
          <a:prstGeom prst="roundRect">
            <a:avLst>
              <a:gd name="adj" fmla="val 1289"/>
            </a:avLst>
          </a:prstGeom>
          <a:solidFill>
            <a:srgbClr val="FFFFFF"/>
          </a:solidFill>
          <a:ln w="12700">
            <a:solidFill>
              <a:srgbClr val="D8E6DE"/>
            </a:solidFill>
            <a:prstDash val="solid"/>
          </a:ln>
          <a:effectLst>
            <a:outerShdw blurRad="88900" dist="25400" dir="5400000" algn="bl" rotWithShape="0">
              <a:srgbClr val="1B4332">
                <a:alpha val="16000"/>
              </a:srgbClr>
            </a:outerShdw>
          </a:effectLst>
        </p:spPr>
      </p:sp>
      <p:pic>
        <p:nvPicPr>
          <p:cNvPr id="9" name="Image 0" descr="/home/claude/work/assets2/revisit_s4_1.png"/>
          <p:cNvPicPr>
            <a:picLocks noChangeAspect="1"/>
          </p:cNvPicPr>
          <p:nvPr/>
        </p:nvPicPr>
        <p:blipFill>
          <a:blip r:embed="rId3"/>
          <a:stretch>
            <a:fillRect/>
          </a:stretch>
        </p:blipFill>
        <p:spPr>
          <a:xfrm>
            <a:off x="4846320" y="2158182"/>
            <a:ext cx="6858000" cy="3364596"/>
          </a:xfrm>
          <a:prstGeom prst="rect">
            <a:avLst/>
          </a:prstGeom>
        </p:spPr>
      </p:pic>
      <p:sp>
        <p:nvSpPr>
          <p:cNvPr id="10" name="Text 7"/>
          <p:cNvSpPr/>
          <p:nvPr/>
        </p:nvSpPr>
        <p:spPr>
          <a:xfrm>
            <a:off x="640080" y="6510528"/>
            <a:ext cx="5486400" cy="274320"/>
          </a:xfrm>
          <a:prstGeom prst="rect">
            <a:avLst/>
          </a:prstGeom>
          <a:noFill/>
          <a:ln/>
        </p:spPr>
        <p:txBody>
          <a:bodyPr wrap="square" rtlCol="0" anchor="ctr"/>
          <a:lstStyle/>
          <a:p>
            <a:pPr marL="0" indent="0">
              <a:buNone/>
            </a:pPr>
            <a:r>
              <a:rPr lang="en-US" sz="900" dirty="0">
                <a:solidFill>
                  <a:srgbClr val="9AAFA3"/>
                </a:solidFill>
                <a:latin typeface="Calibri" pitchFamily="34" charset="0"/>
                <a:ea typeface="Calibri" pitchFamily="34" charset="-122"/>
                <a:cs typeface="Calibri" pitchFamily="34" charset="-120"/>
              </a:rPr>
              <a:t>Kaudulla Elephant Movement Study</a:t>
            </a:r>
            <a:endParaRPr lang="en-US" sz="900" dirty="0"/>
          </a:p>
        </p:txBody>
      </p:sp>
      <p:sp>
        <p:nvSpPr>
          <p:cNvPr id="11" name="Text 8"/>
          <p:cNvSpPr/>
          <p:nvPr/>
        </p:nvSpPr>
        <p:spPr>
          <a:xfrm>
            <a:off x="11247120" y="6510528"/>
            <a:ext cx="365760" cy="274320"/>
          </a:xfrm>
          <a:prstGeom prst="rect">
            <a:avLst/>
          </a:prstGeom>
          <a:noFill/>
          <a:ln/>
        </p:spPr>
        <p:txBody>
          <a:bodyPr wrap="square" rtlCol="0" anchor="ctr"/>
          <a:lstStyle/>
          <a:p>
            <a:pPr marL="0" indent="0" algn="r">
              <a:buNone/>
            </a:pPr>
            <a:r>
              <a:rPr lang="en-US" sz="900" dirty="0">
                <a:solidFill>
                  <a:srgbClr val="9AAFA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2689</Words>
  <Application>Microsoft Office PowerPoint</Application>
  <PresentationFormat>Widescreen</PresentationFormat>
  <Paragraphs>500</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3</cp:revision>
  <dcterms:created xsi:type="dcterms:W3CDTF">2026-07-20T03:36:34Z</dcterms:created>
  <dcterms:modified xsi:type="dcterms:W3CDTF">2026-07-20T05:47:42Z</dcterms:modified>
</cp:coreProperties>
</file>